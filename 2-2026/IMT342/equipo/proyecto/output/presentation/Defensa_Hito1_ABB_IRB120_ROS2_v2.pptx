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6147146d634ce1" /><Relationship Type="http://schemas.openxmlformats.org/officeDocument/2006/relationships/extended-properties" Target="/docProps/app.xml" Id="R4d08140bc29443c8" /><Relationship Type="http://schemas.openxmlformats.org/officeDocument/2006/relationships/officeDocument" Target="/ppt/presentation.xml" Id="Rc3b0df1e79804d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36a1b367b64a52"/>
  </p:sldMasterIdLst>
  <p:notesMasterIdLst>
    <p:notesMasterId xmlns:r="http://schemas.openxmlformats.org/officeDocument/2006/relationships" r:id="Rc0a8354ccfef4837"/>
  </p:notesMasterIdLst>
  <p:sldIdLst>
    <p:sldId xmlns:r="http://schemas.openxmlformats.org/officeDocument/2006/relationships" id="256" r:id="Ra04481c79cde4f06"/>
    <p:sldId xmlns:r="http://schemas.openxmlformats.org/officeDocument/2006/relationships" id="257" r:id="Ra66a2b5b113b4975"/>
    <p:sldId xmlns:r="http://schemas.openxmlformats.org/officeDocument/2006/relationships" id="258" r:id="R49449bbe62804c30"/>
    <p:sldId xmlns:r="http://schemas.openxmlformats.org/officeDocument/2006/relationships" id="259" r:id="Rcf6bb27d73be4e99"/>
    <p:sldId xmlns:r="http://schemas.openxmlformats.org/officeDocument/2006/relationships" id="260" r:id="Ra4740b55033940db"/>
    <p:sldId xmlns:r="http://schemas.openxmlformats.org/officeDocument/2006/relationships" id="261" r:id="Rfe1b373de9214a13"/>
    <p:sldId xmlns:r="http://schemas.openxmlformats.org/officeDocument/2006/relationships" id="262" r:id="Re4b15244d280448b"/>
    <p:sldId xmlns:r="http://schemas.openxmlformats.org/officeDocument/2006/relationships" id="263" r:id="R8b22f4f664f74b0c"/>
    <p:sldId xmlns:r="http://schemas.openxmlformats.org/officeDocument/2006/relationships" id="264" r:id="R8dc5ba5bc0644fc8"/>
    <p:sldId xmlns:r="http://schemas.openxmlformats.org/officeDocument/2006/relationships" id="265" r:id="R9a7604ca4cd544c7"/>
    <p:sldId xmlns:r="http://schemas.openxmlformats.org/officeDocument/2006/relationships" id="266" r:id="R541381996fa3465f"/>
    <p:sldId xmlns:r="http://schemas.openxmlformats.org/officeDocument/2006/relationships" id="267" r:id="Rb983acac509d4570"/>
    <p:sldId xmlns:r="http://schemas.openxmlformats.org/officeDocument/2006/relationships" id="268" r:id="Rd11c2e5af00b4be3"/>
    <p:sldId xmlns:r="http://schemas.openxmlformats.org/officeDocument/2006/relationships" id="269" r:id="R5e8e25b634b345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44d5c519644319" /><Relationship Type="http://schemas.openxmlformats.org/officeDocument/2006/relationships/slideMaster" Target="/ppt/slideMasters/slideMaster1.xml" Id="R8536a1b367b64a52" /><Relationship Type="http://schemas.openxmlformats.org/officeDocument/2006/relationships/notesMaster" Target="/ppt/notesMasters/notesMaster1.xml" Id="Rc0a8354ccfef4837" /><Relationship Type="http://schemas.openxmlformats.org/officeDocument/2006/relationships/presProps" Target="/ppt/presProps.xml" Id="R6373d3f05e4e4813" /><Relationship Type="http://schemas.openxmlformats.org/officeDocument/2006/relationships/tableStyles" Target="/ppt/tableStyles.xml" Id="Rf70139eb72954e70" /><Relationship Type="http://schemas.openxmlformats.org/officeDocument/2006/relationships/slide" Target="/ppt/slides/slide1.xml" Id="Ra04481c79cde4f06" /><Relationship Type="http://schemas.openxmlformats.org/officeDocument/2006/relationships/slide" Target="/ppt/slides/slide2.xml" Id="Ra66a2b5b113b4975" /><Relationship Type="http://schemas.openxmlformats.org/officeDocument/2006/relationships/slide" Target="/ppt/slides/slide3.xml" Id="R49449bbe62804c30" /><Relationship Type="http://schemas.openxmlformats.org/officeDocument/2006/relationships/slide" Target="/ppt/slides/slide4.xml" Id="Rcf6bb27d73be4e99" /><Relationship Type="http://schemas.openxmlformats.org/officeDocument/2006/relationships/slide" Target="/ppt/slides/slide5.xml" Id="Ra4740b55033940db" /><Relationship Type="http://schemas.openxmlformats.org/officeDocument/2006/relationships/slide" Target="/ppt/slides/slide6.xml" Id="Rfe1b373de9214a13" /><Relationship Type="http://schemas.openxmlformats.org/officeDocument/2006/relationships/slide" Target="/ppt/slides/slide7.xml" Id="Re4b15244d280448b" /><Relationship Type="http://schemas.openxmlformats.org/officeDocument/2006/relationships/slide" Target="/ppt/slides/slide8.xml" Id="R8b22f4f664f74b0c" /><Relationship Type="http://schemas.openxmlformats.org/officeDocument/2006/relationships/slide" Target="/ppt/slides/slide9.xml" Id="R8dc5ba5bc0644fc8" /><Relationship Type="http://schemas.openxmlformats.org/officeDocument/2006/relationships/slide" Target="/ppt/slides/slide10.xml" Id="R9a7604ca4cd544c7" /><Relationship Type="http://schemas.openxmlformats.org/officeDocument/2006/relationships/slide" Target="/ppt/slides/slide11.xml" Id="R541381996fa3465f" /><Relationship Type="http://schemas.openxmlformats.org/officeDocument/2006/relationships/slide" Target="/ppt/slides/slide12.xml" Id="Rb983acac509d4570" /><Relationship Type="http://schemas.openxmlformats.org/officeDocument/2006/relationships/slide" Target="/ppt/slides/slide13.xml" Id="Rd11c2e5af00b4be3" /><Relationship Type="http://schemas.openxmlformats.org/officeDocument/2006/relationships/slide" Target="/ppt/slides/slide14.xml" Id="R5e8e25b634b345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d93794497f47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9935ce07b5428f" /><Relationship Type="http://schemas.openxmlformats.org/officeDocument/2006/relationships/notesMaster" Target="/ppt/notesMasters/notesMaster1.xml" Id="Re5f39347b2264b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7823a2fff8483d" /><Relationship Type="http://schemas.openxmlformats.org/officeDocument/2006/relationships/notesMaster" Target="/ppt/notesMasters/notesMaster1.xml" Id="Rbbcb90e856a845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2d3a195f22471a" /><Relationship Type="http://schemas.openxmlformats.org/officeDocument/2006/relationships/notesMaster" Target="/ppt/notesMasters/notesMaster1.xml" Id="R0a1372c7ff4d45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62f14508b447f5" /><Relationship Type="http://schemas.openxmlformats.org/officeDocument/2006/relationships/notesMaster" Target="/ppt/notesMasters/notesMaster1.xml" Id="R4e119cd5cafd49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961430f388425c" /><Relationship Type="http://schemas.openxmlformats.org/officeDocument/2006/relationships/notesMaster" Target="/ppt/notesMasters/notesMaster1.xml" Id="R0e70255e7f0245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39ce07f5114498" /><Relationship Type="http://schemas.openxmlformats.org/officeDocument/2006/relationships/notesMaster" Target="/ppt/notesMasters/notesMaster1.xml" Id="R92fe3cb6294a4a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7afad81c014ca9" /><Relationship Type="http://schemas.openxmlformats.org/officeDocument/2006/relationships/notesMaster" Target="/ppt/notesMasters/notesMaster1.xml" Id="R7f0d8e84c27a42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2601ab414041d4" /><Relationship Type="http://schemas.openxmlformats.org/officeDocument/2006/relationships/notesMaster" Target="/ppt/notesMasters/notesMaster1.xml" Id="R8f0eaa511dac42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98fd0e22af4a1e" /><Relationship Type="http://schemas.openxmlformats.org/officeDocument/2006/relationships/notesMaster" Target="/ppt/notesMasters/notesMaster1.xml" Id="Rd628eee6bc2b44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fbe01ce5e14a36" /><Relationship Type="http://schemas.openxmlformats.org/officeDocument/2006/relationships/notesMaster" Target="/ppt/notesMasters/notesMaster1.xml" Id="R6eda1faee7834d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a4c1d04ec34180" /><Relationship Type="http://schemas.openxmlformats.org/officeDocument/2006/relationships/notesMaster" Target="/ppt/notesMasters/notesMaster1.xml" Id="Rc7c769a7d7c943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34ee5d9ba54fa9" /><Relationship Type="http://schemas.openxmlformats.org/officeDocument/2006/relationships/notesMaster" Target="/ppt/notesMasters/notesMaster1.xml" Id="R34f28b02f9214c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5b7d1597d84056" /><Relationship Type="http://schemas.openxmlformats.org/officeDocument/2006/relationships/notesMaster" Target="/ppt/notesMasters/notesMaster1.xml" Id="Rd5934908b63e47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6c329649904ee7" /><Relationship Type="http://schemas.openxmlformats.org/officeDocument/2006/relationships/notesMaster" Target="/ppt/notesMasters/notesMaster1.xml" Id="Rba9b649c35f146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el objetivo general. Aclara desde el inicio que la geometría es provisional, pero la cadena cinemática y el pasaporte ya fueron verificados.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- /home/marcelo767/Documentos/robotica/robotica-IMT342/2-2026/IMT342/equipo/proyecto/documentosGuia/Guia_PFI.pdf, sección 4</a:t>
            </a:r>
          </a:p>
          <a:p xmlns:a="http://schemas.openxmlformats.org/drawingml/2006/main">
            <a:r>
              <a:t>- /home/marcelo767/Documentos/robotica/robotica-IMT342/2-2026/IMT342/equipo/proyecto/docs/hito1/resultados.md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 el criterio y después muestra que el resultado medido está muchos órdenes de magnitud por debajo del límite.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- /home/marcelo767/Documentos/robotica/robotica-IMT342/2-2026/IMT342/equipo/proyecto/documentosGuia/Guia_PFI.pdf, sección 4</a:t>
            </a:r>
          </a:p>
          <a:p xmlns:a="http://schemas.openxmlformats.org/drawingml/2006/main">
            <a:r>
              <a:t>- /home/marcelo767/Documentos/robotica/robotica-IMT342/2-2026/IMT342/equipo/proyecto/docs/hito1/resultados.md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 la bifurcación: el mismo estado llega a robot_state_publisher para TF y al validador para comparar DH contra URDF.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- /home/marcelo767/Documentos/robotica/robotica-IMT342/2-2026/IMT342/equipo/proyecto/ros2_ws/src/irb120_hito1/launch/display.launch.py</a:t>
            </a:r>
          </a:p>
          <a:p xmlns:a="http://schemas.openxmlformats.org/drawingml/2006/main">
            <a:r>
              <a:t>- /home/marcelo767/Documentos/robotica/robotica-IMT342/2-2026/IMT342/equipo/proyecto/ros2_ws/src/irb120_hito1/irb120_hito1/nodes/fk_validator.py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esta diapositiva para demostrar modularidad real. Señala que el CAD podrá cambiar sin editar los joints ni el código DH.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- /home/marcelo767/Documentos/robotica/robotica-IMT342/2-2026/IMT342/equipo/proyecto/ros2_ws/src/irb120_hito1</a:t>
            </a:r>
          </a:p>
          <a:p xmlns:a="http://schemas.openxmlformats.org/drawingml/2006/main">
            <a:r>
              <a:t>- /home/marcelo767/Documentos/robotica/robotica-IMT342/2-2026/IMT342/equipo/proyecto/docs/hito1/trazabilidad.md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theta, d, a y alpha. Destaca los offsets de los ejes 2 y 6 porque suelen ser la fuente de errores de signo.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- /home/marcelo767/Documentos/robotica/robotica-IMT342/2-2026/IMT342/equipo/proyecto/documentosGuia/IJMERR-V12N2-121.pdf, Tabla I</a:t>
            </a:r>
          </a:p>
          <a:p xmlns:a="http://schemas.openxmlformats.org/drawingml/2006/main">
            <a:r>
              <a:t>- /home/marcelo767/Documentos/robotica/robotica-IMT342/2-2026/IMT342/equipo/proyecto/docs/hito1/modelo_cinematico.md</a:t>
            </a:r>
          </a:p>
          <a:p xmlns:a="http://schemas.openxmlformats.org/drawingml/2006/main">
            <a:r>
              <a:t>- /home/marcelo767/Documentos/robotica/robotica-IMT342/2-2026/IMT342/equipo/proyecto/ros2_ws/src/irb120_hito1/irb120_hito1/kinematics/dh.py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 que la descomposición no es un truco visual. Conserva exactamente el orden de la convención DH clásica.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- /home/marcelo767/Documentos/robotica/robotica-IMT342/2-2026/IMT342/equipo/proyecto/docs/hito1/modelo_cinematico.md, sección Correspondencia DH-URDF</a:t>
            </a:r>
          </a:p>
          <a:p xmlns:a="http://schemas.openxmlformats.org/drawingml/2006/main">
            <a:r>
              <a:t>- /home/marcelo767/Documentos/robotica/robotica-IMT342/2-2026/IMT342/equipo/proyecto/ros2_ws/src/irb120_hito1/urdf/irb120.macro.xacro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 que Xacro genera URDF. El archivo principal llama los tres módulos y deja una cadena única desde la base hasta el TCP.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- /home/marcelo767/Documentos/robotica/robotica-IMT342/2-2026/IMT342/equipo/proyecto/ros2_ws/src/irb120_hito1/urdf/irb120_with_gripper.urdf.xacro</a:t>
            </a:r>
          </a:p>
          <a:p xmlns:a="http://schemas.openxmlformats.org/drawingml/2006/main">
            <a:r>
              <a:t>- /home/marcelo767/Documentos/robotica/robotica-IMT342/2-2026/IMT342/equipo/proyecto/ros2_ws/src/irb120_hito1/urdf/irb120_with_gripper.urdf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 que demo_motion es opcional. Sin ese argumento el robot queda quieto y acepta comandos manuales.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- /home/marcelo767/Documentos/robotica/robotica-IMT342/2-2026/IMT342/equipo/proyecto/ros2_ws/src/irb120_hito1/launch/display.launch.py</a:t>
            </a:r>
          </a:p>
          <a:p xmlns:a="http://schemas.openxmlformats.org/drawingml/2006/main">
            <a:r>
              <a:t>- /home/marcelo767/Documentos/robotica/robotica-IMT342/2-2026/IMT342/equipo/proyecto/ros2_ws/src/irb120_hito1/irb120_hito1/motion.py</a:t>
            </a:r>
          </a:p>
          <a:p xmlns:a="http://schemas.openxmlformats.org/drawingml/2006/main">
            <a:r>
              <a:t>- /home/marcelo767/Documentos/robotica/robotica-IMT342/2-2026/IMT342/equipo/proyecto/ros2_ws/src/irb120_hito1/irb120_hito1/nodes/motion_demo.py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es una captura real tomada durante la ejecución. Aclara que RViz visualiza, pero no simula dinámica ni fuerzas.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- /home/marcelo767/Documentos/robotica/robotica-IMT342/2-2026/IMT342/equipo/proyecto/docs/hito1/assets/rviz_irb120_demo_automatica.png</a:t>
            </a:r>
          </a:p>
          <a:p xmlns:a="http://schemas.openxmlformats.org/drawingml/2006/main">
            <a:r>
              <a:t>- /home/marcelo767/Documentos/robotica/robotica-IMT342/2-2026/IMT342/equipo/proyecto/ros2_ws/src/irb120_hito1/rviz/hito1.rviz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Antes de la clase deja el workspace compilado. Durante la exposición solo carga los entornos y ejecuta launch.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- /home/marcelo767/Documentos/robotica/robotica-IMT342/2-2026/IMT342/equipo/proyecto/README.md, sección Demostración recomendada</a:t>
            </a:r>
          </a:p>
          <a:p xmlns:a="http://schemas.openxmlformats.org/drawingml/2006/main">
            <a:r>
              <a:t>- /home/marcelo767/Documentos/robotica/robotica-IMT342/2-2026/IMT342/equipo/proyecto/docs/hito1/guion_defensa.md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Subraya que no se está comparando el código consigo mismo. El evaluador URDF interpreta joints, origin y axis por una ruta separada.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- /home/marcelo767/Documentos/robotica/robotica-IMT342/2-2026/IMT342/equipo/proyecto/ros2_ws/src/irb120_hito1/irb120_hito1/kinematics/dh.py</a:t>
            </a:r>
          </a:p>
          <a:p xmlns:a="http://schemas.openxmlformats.org/drawingml/2006/main">
            <a:r>
              <a:t>- /home/marcelo767/Documentos/robotica/robotica-IMT342/2-2026/IMT342/equipo/proyecto/ros2_ws/src/irb120_hito1/irb120_hito1/kinematics/urdf_chain.py</a:t>
            </a:r>
          </a:p>
          <a:p xmlns:a="http://schemas.openxmlformats.org/drawingml/2006/main">
            <a:r>
              <a:t>- /home/marcelo767/Documentos/robotica/robotica-IMT342/2-2026/IMT342/equipo/proyecto/ros2_ws/src/irb120_hito1/test/test_urdf_matches_dh.py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Muestra primero el número grande y luego la tabla. Explica que 1e-16 es ruido de redondeo de punto flotante.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- /home/marcelo767/Documentos/robotica/robotica-IMT342/2-2026/IMT342/equipo/proyecto/docs/hito1/resultados.md</a:t>
            </a:r>
          </a:p>
          <a:p xmlns:a="http://schemas.openxmlformats.org/drawingml/2006/main">
            <a:r>
              <a:t>- /home/marcelo767/Documentos/robotica/robotica-IMT342/2-2026/IMT342/equipo/proyecto/ros2_ws/src/irb120_hito1/irb120_hito1/verify_model.py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el pendiente como una sustitución visual controlada. Una sola malla fusionada no sirve porque los eslabones deben moverse por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- /home/marcelo767/Documentos/robotica/robotica-IMT342/2-2026/IMT342/equipo/proyecto/README.md, sección Modelo visual pendiente</a:t>
            </a:r>
          </a:p>
          <a:p xmlns:a="http://schemas.openxmlformats.org/drawingml/2006/main">
            <a:r>
              <a:t>- /home/marcelo767/Documentos/robotica/robotica-IMT342/2-2026/IMT342/equipo/proyecto/docs/hito1/trazabilidad.md, sección Pendiente para el gemelo visual definitivo</a:t>
            </a:r>
          </a:p>
          <a:p xmlns:a="http://schemas.openxmlformats.org/drawingml/2006/main">
            <a:r>
              <a:t>- ABB Product specification IRB 120, 3HAC035960-001 Rev. S: https://library.e.abb.com/public/6aed5e91083f4fceb358eea2fe4c1bab/3HAC035960%20PS%20IRB%20120-en.pdf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Cierra con seguridad. Si preguntan por el CAD, responde que la interfaz de integración ya está definida y protegida por pruebas de regresión.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- /home/marcelo767/Documentos/robotica/robotica-IMT342/2-2026/IMT342/equipo/proyecto/docs/hito1/guion_defensa.md</a:t>
            </a:r>
          </a:p>
          <a:p xmlns:a="http://schemas.openxmlformats.org/drawingml/2006/main">
            <a:r>
              <a:t>- /home/marcelo767/Documentos/robotica/robotica-IMT342/2-2026/IMT342/equipo/proyecto/docs/hito1/resultados.md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7f3ac16a445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d35c40e0114290" /><Relationship Type="http://schemas.openxmlformats.org/officeDocument/2006/relationships/slideLayout" Target="/ppt/slideLayouts/slideLayout1.xml" Id="R72266018eabb4d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266018eabb4d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63eb55e42430d" /><Relationship Type="http://schemas.openxmlformats.org/officeDocument/2006/relationships/notesSlide" Target="/ppt/notesSlides/notesSlide1.xml" Id="R66ed9d978b3d4e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7fb714ee14437" /><Relationship Type="http://schemas.openxmlformats.org/officeDocument/2006/relationships/notesSlide" Target="/ppt/notesSlides/notesSlide2.xml" Id="R3bf938c1db6340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63af426a7440d" /><Relationship Type="http://schemas.openxmlformats.org/officeDocument/2006/relationships/notesSlide" Target="/ppt/notesSlides/notesSlide3.xml" Id="Rabdeade7a0ae43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90b3ad29d4425" /><Relationship Type="http://schemas.openxmlformats.org/officeDocument/2006/relationships/notesSlide" Target="/ppt/notesSlides/notesSlide4.xml" Id="R3b9779840d764f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9521693d941db" /><Relationship Type="http://schemas.openxmlformats.org/officeDocument/2006/relationships/notesSlide" Target="/ppt/notesSlides/notesSlide5.xml" Id="R728795bcb13748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1601253224c20" /><Relationship Type="http://schemas.openxmlformats.org/officeDocument/2006/relationships/notesSlide" Target="/ppt/notesSlides/notesSlide6.xml" Id="Rb6ecbd25db2b4a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9b96d8bdb4c4a" /><Relationship Type="http://schemas.openxmlformats.org/officeDocument/2006/relationships/notesSlide" Target="/ppt/notesSlides/notesSlide7.xml" Id="R6ee28f5d68fb4e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01881320c454f" /><Relationship Type="http://schemas.openxmlformats.org/officeDocument/2006/relationships/notesSlide" Target="/ppt/notesSlides/notesSlide8.xml" Id="Rc982065e8a7a40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5edf4ea3d4b48" /><Relationship Type="http://schemas.openxmlformats.org/officeDocument/2006/relationships/image" Target="/ppt/media/image.png" Id="Rbc6867cf630b4643" /><Relationship Type="http://schemas.openxmlformats.org/officeDocument/2006/relationships/notesSlide" Target="/ppt/notesSlides/notesSlide9.xml" Id="Rde4feb9a906d41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04738b690456f" /><Relationship Type="http://schemas.openxmlformats.org/officeDocument/2006/relationships/notesSlide" Target="/ppt/notesSlides/notesSlide10.xml" Id="Re28dbeef8d9c40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7a8276153464f" /><Relationship Type="http://schemas.openxmlformats.org/officeDocument/2006/relationships/notesSlide" Target="/ppt/notesSlides/notesSlide11.xml" Id="R08123f24f9bd40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eee87f2f44593" /><Relationship Type="http://schemas.openxmlformats.org/officeDocument/2006/relationships/notesSlide" Target="/ppt/notesSlides/notesSlide12.xml" Id="R417a52bec24c42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ed7c6ab0a4b90" /><Relationship Type="http://schemas.openxmlformats.org/officeDocument/2006/relationships/notesSlide" Target="/ppt/notesSlides/notesSlide13.xml" Id="R4a3eea014c7847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895d0ed414d80" /><Relationship Type="http://schemas.openxmlformats.org/officeDocument/2006/relationships/notesSlide" Target="/ppt/notesSlides/notesSlide14.xml" Id="Rc04e788fa3424c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E6F52-35BD-412E-B46D-4DBEE8AA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57838-484D-4136-9A43-3BCA86BC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DDE5E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 i="0">
                <a:solidFill>
                  <a:srgbClr val="DDE5EC"/>
                </a:solidFill>
                <a:latin typeface="Liberation Sans"/>
                <a:ea typeface="Liberation Sans"/>
                <a:cs typeface="Liberation Sans"/>
              </a:rPr>
              <a:t>PROYECTO FINAL IMT-342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61463-86E4-4795-A153-C7DED044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2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Hito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36DD0-952C-4BD7-A044-BE7B4EB0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62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Gemelo digital del ABB IRB 120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6A8AE-352B-449F-A747-80907F1E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C9D3D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C9D3DC"/>
                </a:solidFill>
                <a:latin typeface="Liberation Sans"/>
                <a:ea typeface="Liberation Sans"/>
                <a:cs typeface="Liberation Sans"/>
              </a:rPr>
              <a:t>ROS 2 Jazzy  ·  URDF/Xacro  ·  Cinemática DH  ·  Pinza paralela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F6799-9F5A-44A2-97F6-8C115AB0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24288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rPr>
              <a:t>9 pruebas aprobadas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D4F86-73C1-4F1E-B0E2-C94F53AC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48075"/>
            <a:ext cx="31908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Error máximo 2.22 x 10⁻¹⁶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59F16-6C78-49FF-A9D7-C8EA86DF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15CCE-9099-4F7D-AF27-9536FD44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243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40622-0A2D-49C9-9D8B-8E53CFCF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05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B923B-B0F2-4076-8F31-EA579AD4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40000">
            <a:off x="9877425" y="325755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0CABB-B7B9-4966-ACF6-03A11BC2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876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0FF63-A5C6-4BC4-8E87-203703CB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1201400" y="25527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38750-0115-4A90-B2E2-34F24519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32410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45832-70B1-448C-89A9-D5513121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2410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FD873C-C8C0-4A52-B11A-D24BDDEC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95A3A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 i="0">
                <a:solidFill>
                  <a:srgbClr val="95A3AF"/>
                </a:solidFill>
                <a:latin typeface="Liberation Sans"/>
                <a:ea typeface="Liberation Sans"/>
                <a:cs typeface="Liberation Sans"/>
              </a:rPr>
              <a:t>Versión comprobada el 10 de septiembre de 2026</a:t>
            </a:r>
          </a:p>
        </p:txBody>
      </p:sp>
    </p:spTree>
    <p:extLst>
      <p:ext uri="{BB962C8B-B14F-4D97-AF65-F5344CB8AC3E}">
        <p14:creationId xmlns:p14="http://schemas.microsoft.com/office/powerpoint/2010/main" val="10734602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BD8DD0-1CFF-4A2C-A9BF-6F0702EB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788DB-13E4-4AB9-9EBD-FE0AEFB8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E9593-7BDD-4DA8-811A-E46149BF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OBJETIVO Y PASAPORTE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688AE-573B-4951-B2E2-D12A774A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El Hito 1 convierte una exigencia en una prueba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CEA81-2472-42C8-8054-59BD2A73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5D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69B23-01F5-4209-8D9C-78C4C362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IMT-342  ·  Hito 1  ·  2/14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DB19F-D86C-4D40-BAE1-E710DD1E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6191250" cy="4048125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5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D8F8B-B847-4F0C-890D-5A685CEF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Lo que exige la guía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B15FC-E743-47BF-9D8D-B5D21EB8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5429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50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Paquete ROS del ABB IRB 120 con pinza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50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Descripción URDF modular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50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Cinemática directa programada por el equipo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50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Comparación cartesiana reproducible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50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Sin resolver la cinemática mediante MoveIt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D19F6-1B0E-4FB1-BE2D-306EBF5E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57350"/>
            <a:ext cx="4572000" cy="4048125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89700-2284-4C12-AB02-F86B1F25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19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B7C4C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 i="0">
                <a:solidFill>
                  <a:srgbClr val="B7C4CF"/>
                </a:solidFill>
                <a:latin typeface="Liberation Sans"/>
                <a:ea typeface="Liberation Sans"/>
                <a:cs typeface="Liberation Sans"/>
              </a:rPr>
              <a:t>Criterio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568DB-093D-49E2-BF2A-6732F987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336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error &lt; 1 x 10⁻⁶ 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C764C-2C5C-49D3-A0DE-8ADFEFEC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86150"/>
            <a:ext cx="3371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A5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C316B-1A00-4765-AC77-40EA724B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86150"/>
            <a:ext cx="71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81BF1-F53B-44BA-989A-1B5C55F1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05250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B7C4C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B7C4CF"/>
                </a:solidFill>
                <a:latin typeface="Liberation Sans"/>
                <a:ea typeface="Liberation Sans"/>
                <a:cs typeface="Liberation Sans"/>
              </a:rPr>
              <a:t>Resultado real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E6710-E241-4E09-AB50-D0604298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38625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0">
                <a:solidFill>
                  <a:srgbClr val="6ED18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 i="0">
                <a:solidFill>
                  <a:srgbClr val="6ED18C"/>
                </a:solidFill>
                <a:latin typeface="Liberation Sans"/>
                <a:ea typeface="Liberation Sans"/>
                <a:cs typeface="Liberation Sans"/>
              </a:rPr>
              <a:t>2.22 x 10⁻¹⁶ 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A58D6-7FF1-4FEB-8CD3-8186435D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292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6ED18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6ED18C"/>
                </a:solidFill>
                <a:latin typeface="Liberation Sans"/>
                <a:ea typeface="Liberation Sans"/>
                <a:cs typeface="Liberation Sans"/>
              </a:rPr>
              <a:t>APROBADO</a:t>
            </a:r>
          </a:p>
        </p:txBody>
      </p:sp>
    </p:spTree>
    <p:extLst>
      <p:ext uri="{BB962C8B-B14F-4D97-AF65-F5344CB8AC3E}">
        <p14:creationId xmlns:p14="http://schemas.microsoft.com/office/powerpoint/2010/main" val="224648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816C8B-8FC4-4B9C-A3E0-BC5DDD8D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A6E37-01F0-4EE5-BE22-C2148EB6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E3C99-492A-4C7A-962D-40CC41EE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ARQUITECTURA ROS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6D326-56D6-4B01-A470-3B18407F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Una sola muestra alimenta visualización y validación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A7AAF-C0CB-4F81-BF41-42EF907B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5D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E47EC-28D4-4AC1-996A-9F099590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IMT-342  ·  Hito 1  ·  3/14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97707-3896-4E3B-BFBD-D0B26AD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000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06C0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1CF0B-83B3-4DCA-895A-6A643B77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67103-180B-42CF-BA7F-AB569ABA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Comando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0DE62-B5EB-483F-9B7D-32BD32B1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Usuario o motion_demo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5E3DC-64BF-44AB-A51E-80D2B1FD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E8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3ED5C-99E1-455E-B2D5-AB6DFE0C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7680C-BCD0-479A-AF78-5832AB55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09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Estado articular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39F7F-A3FF-4A04-89C6-85D38277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98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joint_state_source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publica /joint_states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38C16-841D-4F60-81BD-C1DC3926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E8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45339-EFD0-4C2B-829A-5A919E8F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5E0BA-56AD-4ED3-BE47-E120B3E9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Modelo espacial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F3771-C50E-4854-8FF8-8F9FCDD3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robot_state_publisher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publica TF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B8C6D-BF37-4BC5-B839-D8EB5D3C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15803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EC21FB-0171-4D63-9BE6-73BA4014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7E76E0-16B1-4995-849C-9CE7F7CC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09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rPr>
              <a:t>Vista 3D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644315-263E-4290-9522-BD0A0D7C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098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RViz muestra links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y frames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86F396-EAB5-45E9-8935-ACBF1644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812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BC676E-1722-4250-A365-237306AE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95600" y="2505075"/>
            <a:ext cx="171450" cy="2000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90EBA6-333F-4653-BD24-2B962DDF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812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39600C-2956-427E-8E09-4CFA4FC4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43600" y="2505075"/>
            <a:ext cx="171450" cy="2000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BBC937-B85D-4F9B-ADA2-251ECF75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812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C74DFF-023E-4459-A237-B409E5AB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91600" y="2505075"/>
            <a:ext cx="171450" cy="2000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46B224-5207-44C7-957C-53210158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2385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FCFD70-96B5-4018-A557-CDE6BB12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90975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F426AD-6660-4AAD-8623-4EF0ABB3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076950" y="3914775"/>
            <a:ext cx="171450" cy="2000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B99125-17F5-4538-A2A8-91B65462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42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4F5"/>
          </a:solidFill>
          <a:ln xmlns:a="http://schemas.openxmlformats.org/drawingml/2006/main" w="9525">
            <a:solidFill>
              <a:srgbClr val="087E8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C520E5-D2B3-4E71-8F84-CAA17126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90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fk_validator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4EA62F-F139-407B-BFE9-BD03A57F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Calcula la pose por DH y por la cadena URDF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E06223-6C4D-44AC-A35A-6AACD87A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943350"/>
            <a:ext cx="1381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rmAutofit fontScale="9870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rPr>
              <a:t>error en metros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6E6F57-3D35-4074-985B-91757EAA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338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Mismo /joint_states</a:t>
            </a:r>
          </a:p>
        </p:txBody>
      </p:sp>
    </p:spTree>
    <p:extLst>
      <p:ext uri="{BB962C8B-B14F-4D97-AF65-F5344CB8AC3E}">
        <p14:creationId xmlns:p14="http://schemas.microsoft.com/office/powerpoint/2010/main" val="11266170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9A2FAF-DDF6-4440-A332-CE2F6377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4C1F4-AE4B-49B7-A8B3-96F16897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A517C-3FF2-4FB7-A76A-45EB8A8A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PAQUETE MODULAR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12C9D-F06C-4DC6-B0F0-63B6A3C4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91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La organización permite cambiar la apariencia sin romper la matemática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4D237-F217-4A1C-9C79-ED9BF602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5D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56091-7056-4A95-9220-CCDD0945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IMT-342  ·  Hito 1  ·  4/14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2E63C-D062-4C88-8861-AC4462B9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6238875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3149C-E967-4717-8DD7-DCA91A95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45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9ED7DD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 i="0">
                <a:solidFill>
                  <a:srgbClr val="9ED7DD"/>
                </a:solidFill>
                <a:latin typeface="Liberation Mono"/>
                <a:ea typeface="Liberation Mono"/>
                <a:cs typeface="Liberation Mono"/>
              </a:rPr>
              <a:t>irb120_hito1/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729C3-F89D-4DA1-A80A-E7534060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5524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rPr>
              <a:t>urdf/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rPr>
              <a:t>  materials.xacro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rPr>
              <a:t>  irb120.macro.xacro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rPr>
              <a:t>  gripper.macro.xacro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rPr>
              <a:t>  irb120_with_gripper.urdf.xacro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rPr>
              <a:t>kinematics/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rPr>
              <a:t>  dh.py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rPr>
              <a:t>  urdf_chain.py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rPr>
              <a:t>nodes/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rPr>
              <a:t>  joint_state_source.py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rPr>
              <a:t>  motion_demo.py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rPr>
              <a:t>  fk_validator.py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0" i="0">
                <a:solidFill>
                  <a:srgbClr val="E6EDF3"/>
                </a:solidFill>
                <a:latin typeface="Liberation Mono"/>
                <a:ea typeface="Liberation Mono"/>
                <a:cs typeface="Liberation Mono"/>
              </a:rPr>
              <a:t>launch/   rviz/   config/   test/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851B3-16A7-4F6E-9748-DBE80C2D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Tres capas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18247-0A4C-4A05-A8BB-5CB6BC5A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19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6ECA9-AB08-4213-AA0F-E4DBA18D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F623F-7D82-4F3C-BE3C-6785517E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Modelo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A2ABC-096F-4214-A4AB-CEE53422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URDF, Xacro, DH y parámetros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4E768-712E-4BCE-BF6F-FAB41734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3519B-8248-4AD3-8B84-2864B089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05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548EE4-4995-48B8-825F-D0DE6F8F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480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Ejecución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54EE1E-64BD-4F58-A8E9-D0A8E415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909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Nodos, tópicos, TF y launch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A1851-4466-4DB5-9396-C762822F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82408-DFBF-43B8-A3CB-8F21C306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33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615D5F-5BDD-47D9-AAB8-629F87CC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Evidencia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DEB111-2C8E-46C2-9831-8681849C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96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Pruebas, error y documentación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205731-E489-4401-8FEE-06BA1C16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3905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15803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C94679-0051-4D8D-8530-872CDBF3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05450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rPr>
              <a:t>CAD futuro: solo visual y collision</a:t>
            </a:r>
          </a:p>
        </p:txBody>
      </p:sp>
    </p:spTree>
    <p:extLst>
      <p:ext uri="{BB962C8B-B14F-4D97-AF65-F5344CB8AC3E}">
        <p14:creationId xmlns:p14="http://schemas.microsoft.com/office/powerpoint/2010/main" val="13564992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AA664-99B5-431D-81E6-173B1EBE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C2E82-23D8-414B-A21C-76994DA8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ABD69-E99C-461A-9CEA-1C48A95F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MODELO MATEMÁTICO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D6898-474D-4A80-A876-C088670F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Seis filas DH definen la cadena cinemática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6B39E-3EE9-4218-9B9B-CE845EBF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5D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2D8A8-428C-4996-8568-133779CE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IMT-342  ·  Hito 1  ·  5/14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F29F6-00D3-48A6-9CAE-B3DBAF22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44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2CCB5-1A7A-40EA-BDAE-4D25198E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052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T(i-1,i) = Rz(thetaᵢ)  Tz(dᵢ)  Tx(aᵢ)  Rx(alphaᵢ)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838200" y="2571750"/>
          <a:ext xmlns:a="http://schemas.openxmlformats.org/drawingml/2006/main" cx="105156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3048000"/>
                <a:gridCol w="2095500"/>
                <a:gridCol w="2095500"/>
                <a:gridCol w="2371725"/>
              </a:tblGrid>
              <a:tr h="43270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Eje</a:t>
                      </a:r>
                    </a:p>
                  </a:txBody>
                  <a:tcPr marL="66675" marR="66675" marT="38100" marB="38100" anchor="ctr"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theta efectivo</a:t>
                      </a:r>
                    </a:p>
                  </a:txBody>
                  <a:tcPr marL="66675" marR="66675" marT="38100" marB="38100" anchor="ctr"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 [m]</a:t>
                      </a:r>
                    </a:p>
                  </a:txBody>
                  <a:tcPr marL="66675" marR="66675" marT="38100" marB="38100" anchor="ctr"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 [m]</a:t>
                      </a:r>
                    </a:p>
                  </a:txBody>
                  <a:tcPr marL="66675" marR="66675" marT="38100" marB="38100" anchor="ctr"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alpha [rad]</a:t>
                      </a:r>
                    </a:p>
                  </a:txBody>
                  <a:tcPr marL="66675" marR="66675" marT="38100" marB="38100" anchor="ctr">
                    <a:solidFill>
                      <a:srgbClr val="17212B"/>
                    </a:solidFill>
                  </a:tcPr>
                </a:tc>
              </a:tr>
              <a:tr h="43270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q1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0.290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0.000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-pi/2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43270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q2 - pi/2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0.000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0.270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</a:tr>
              <a:tr h="43270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q3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0.000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0.070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-pi/2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43270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q4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0.302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0.000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pi/2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</a:tr>
              <a:tr h="43270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q5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0.000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0.000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-pi/2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43270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q6 + pi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0.072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0.000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6EB3B-4561-464D-A6A2-828A29B6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Offsets no nulos: eje 2 = -pi/2   ·   eje 6 = +pi</a:t>
            </a:r>
          </a:p>
        </p:txBody>
      </p:sp>
    </p:spTree>
    <p:extLst>
      <p:ext uri="{BB962C8B-B14F-4D97-AF65-F5344CB8AC3E}">
        <p14:creationId xmlns:p14="http://schemas.microsoft.com/office/powerpoint/2010/main" val="638611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BC1829-C7CA-45C7-AA0D-DF4519FA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5A4AF-67D0-4E86-A512-0FCC57E9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61D79-C345-4F3B-88D1-B232B97D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TRADUCCIÓN A URDF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6E56C-C24C-4838-A340-57F38470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Cada fila DH se descompone sin cambiar el orden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4394D-A63F-4879-B6C2-350168BF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5D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AEEF8-EF77-4D74-8AE9-D1A2439D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IMT-342  ·  Hito 1  ·  6/14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39187-1EA1-43C0-B481-591BD0C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URDF aplica el origin fijo antes del movimiento del joint. Por eso la fila se divide en tres transformaciones.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00E22-5244-451D-92F5-4F4C8EB1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31432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06C0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31641-BF24-4BD0-80D6-B3D7B1F7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Joint móvil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ACF55-8A48-40E8-9EBE-347A5D15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17212B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1" i="0">
                <a:solidFill>
                  <a:srgbClr val="17212B"/>
                </a:solidFill>
                <a:latin typeface="Liberation Mono"/>
                <a:ea typeface="Liberation Mono"/>
                <a:cs typeface="Liberation Mono"/>
              </a:rPr>
              <a:t>Rz(qᵢ)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56707-2086-4830-935A-2A8B5046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rmAutofit fontScale="8487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joint_i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40609-6E0C-4C6D-9B96-2629BAE0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476500"/>
            <a:ext cx="31432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7F4F5"/>
          </a:solidFill>
          <a:ln xmlns:a="http://schemas.openxmlformats.org/drawingml/2006/main" w="9525">
            <a:solidFill>
              <a:srgbClr val="087E8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2A0EF-CEC8-4D8D-AF56-C609FF79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051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Offset fijo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C3775-2679-4A9F-8E3B-D9456CF6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1813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17212B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1" i="0">
                <a:solidFill>
                  <a:srgbClr val="17212B"/>
                </a:solidFill>
                <a:latin typeface="Liberation Mono"/>
                <a:ea typeface="Liberation Mono"/>
                <a:cs typeface="Liberation Mono"/>
              </a:rPr>
              <a:t>Rz(offsetᵢ)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863D5-0817-4AFD-B133-5F63648C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77190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rmAutofit fontScale="8487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theta_offset_i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38222-F81D-4EF1-9BD6-BD857705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76500"/>
            <a:ext cx="31432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15803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E0603-FFC5-4547-9D97-7AAFD6F0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051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rPr>
              <a:t>Geometría fija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256C38-3CE8-42A9-BD58-F6D44A3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813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7212B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 i="0">
                <a:solidFill>
                  <a:srgbClr val="17212B"/>
                </a:solidFill>
                <a:latin typeface="Liberation Mono"/>
                <a:ea typeface="Liberation Mono"/>
                <a:cs typeface="Liberation Mono"/>
              </a:rPr>
              <a:t>Tz(dᵢ)  Tx(aᵢ)  Rx(alphaᵢ)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F56F06-E9CF-4E23-ACA7-9AE62680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rmAutofit fontScale="8487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rPr>
              <a:t>dh_i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F7E1EF-5324-43FF-A43A-99901B53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24200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D68F50-7347-4B2D-BE54-5C7B6835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124200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45ECD6-6EBB-43B5-9997-CDDD0454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914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5D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98EECA-25B5-4777-8082-DF1EC60E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48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Resultado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6B4F3B-35FA-4A9D-9010-D4F8D3B7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La cadena URDF y el producto DH llegan a la misma pose para cualquier postura probada.</a:t>
            </a:r>
          </a:p>
        </p:txBody>
      </p:sp>
    </p:spTree>
    <p:extLst>
      <p:ext uri="{BB962C8B-B14F-4D97-AF65-F5344CB8AC3E}">
        <p14:creationId xmlns:p14="http://schemas.microsoft.com/office/powerpoint/2010/main" val="14458033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1A0532-65AD-4297-BA11-284EC3F5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38F96-58B9-4E26-9377-6E1D210C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7A167-3EAA-4D65-8847-69FDEF71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DESCRIPCIÓN DEL ROBOT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48A34-BF06-4816-87DF-1AB33C14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Xacro une módulos y genera el URDF que ROS carga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8E867-DD56-4004-BED6-5C90AA1C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5D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4230F-4C8C-49FC-87E7-223C3A99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IMT-342  ·  Hito 1  ·  7/14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F469D-BDA9-4A16-B51A-2B8C5ADD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CEF"/>
          </a:solidFill>
          <a:ln xmlns:a="http://schemas.openxmlformats.org/drawingml/2006/main" w="9525">
            <a:solidFill>
              <a:srgbClr val="5B657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AD628-C1DE-42BC-8BFD-16EC60FA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Materiales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19F47-5AAE-4F57-98ED-6C2B9081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17212B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 i="0">
                <a:solidFill>
                  <a:srgbClr val="17212B"/>
                </a:solidFill>
                <a:latin typeface="Liberation Mono"/>
                <a:ea typeface="Liberation Mono"/>
                <a:cs typeface="Liberation Mono"/>
              </a:rPr>
              <a:t>materials.xacro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773DB-A213-43EA-9E64-D666578D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41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Colores reutilizables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169F1-94CC-4C58-9197-7F4A0F7D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6690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06C0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617D5-52E9-46F5-8C41-713DE12F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Brazo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98920-BACA-482A-8843-E8CF5C42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146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17212B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 i="0">
                <a:solidFill>
                  <a:srgbClr val="17212B"/>
                </a:solidFill>
                <a:latin typeface="Liberation Mono"/>
                <a:ea typeface="Liberation Mono"/>
                <a:cs typeface="Liberation Mono"/>
              </a:rPr>
              <a:t>irb120.macro.xacro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BEFBF-BB51-4017-98D1-1E9E6427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241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6 joints y frames DH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A6101-A65E-441C-AE59-B7D9526A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4F5"/>
          </a:solidFill>
          <a:ln xmlns:a="http://schemas.openxmlformats.org/drawingml/2006/main" w="9525">
            <a:solidFill>
              <a:srgbClr val="087E8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DEEE7-DEC0-4C71-BCC6-CFC10294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Pinza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F44DF-1954-495A-8F00-BA512623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146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17212B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 i="0">
                <a:solidFill>
                  <a:srgbClr val="17212B"/>
                </a:solidFill>
                <a:latin typeface="Liberation Mono"/>
                <a:ea typeface="Liberation Mono"/>
                <a:cs typeface="Liberation Mono"/>
              </a:rPr>
              <a:t>gripper.macro.xacro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13844-48CB-452F-A00E-4F0FAB99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241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2 dedos y tcp_link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0006D5-3F27-4141-8296-52E2CC97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05175"/>
            <a:ext cx="47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ADDE0-DA6E-4C5C-ACFC-0266B2D6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05175"/>
            <a:ext cx="47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A00D84-134B-4565-B411-8B7CC1C0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05175"/>
            <a:ext cx="47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A248D3-76C4-436E-ADD1-A2109F0E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76675"/>
            <a:ext cx="7353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64E77D-DEC5-4B79-A9C1-24D80836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876675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03EDF4-2CDD-4CF3-B4A4-F150C85A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791200" y="4171950"/>
            <a:ext cx="180975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ECF4AD-B274-4AEF-B003-C8FD0A22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38650"/>
            <a:ext cx="6515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1E951B-6683-4517-8794-86B04B71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482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1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irb120_with_gripper.urdf.xacro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76DE9A-528E-48D4-9F4A-AEA84799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673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B7C4C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B7C4CF"/>
                </a:solidFill>
                <a:latin typeface="Liberation Sans"/>
                <a:ea typeface="Liberation Sans"/>
                <a:cs typeface="Liberation Sans"/>
              </a:rPr>
              <a:t>Xacro expande este archivo a irb120_with_gripper.urdf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16CB6A-FF66-4872-8445-2ED88AE2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772150"/>
            <a:ext cx="4429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rPr>
              <a:t>Árbol único: base_link a tcp_link</a:t>
            </a:r>
          </a:p>
        </p:txBody>
      </p:sp>
    </p:spTree>
    <p:extLst>
      <p:ext uri="{BB962C8B-B14F-4D97-AF65-F5344CB8AC3E}">
        <p14:creationId xmlns:p14="http://schemas.microsoft.com/office/powerpoint/2010/main" val="2505676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6789D6-2EEB-4086-99D9-3399D690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451BC-4EA9-4F29-82F6-6752A2D2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BD34B-38BF-4015-94E2-3F7FA387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EJECUCIÓN EN VIVO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95C27-560F-4B38-BF7A-1B1CE7D7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El launch inicia todo y permite elegir el modo de demostración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133A1-6270-439B-8E21-B8641A0A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5D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D3936-50F5-4731-95AF-D0FBA722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IMT-342  ·  Hito 1  ·  8/14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5623D-A8DB-4135-8868-C93786FE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44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2CD06-86E7-42C9-95E7-2F38EFE6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71675"/>
            <a:ext cx="1052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ros2 launch irb120_hito1 display.launch.py demo_motion:=true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49FD0-0657-406A-B32A-069926C4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86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821DA-ABE9-4536-BF96-63FED25E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718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B6538-78A2-4C4A-8113-8EAD4886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338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robot_state_publisher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553F5-AC22-4A11-8EBB-BF04435D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481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URDF y TF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5A643-3FB5-474F-B489-98ACD13A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086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F6648-8643-4862-ACEE-98CBD146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1718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54A2E-9040-4A15-9217-501561B2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338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joint_state_source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3FDA9-25B7-431A-9123-242D5262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481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Estados y límites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C35FE-12A6-4B30-837C-F21CACD5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AB680-AEAB-4CB7-BEEA-6578FA8D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718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6BF65D-89D8-411A-BFEB-0AF0C4CA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338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motion_demo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1FAB7-5BEC-4C55-8868-847F9B3B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481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Trayectoria suave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3E2B8-EAB0-4291-BB14-9D34D4C9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086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E37EA4-E78D-4DAB-AD5D-E7ACBD6C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1718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58365E-9712-45BA-82CA-53E3ED3D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fk_validator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42352-6BD9-4ED4-9A2F-2B9A9182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481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Error DH-URDF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8A661-51CE-4C4D-B47B-05AE4AA3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86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9130AE-8118-47C6-A77B-B023EFFD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718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0AD102-5A3D-4AED-B1CF-3A8DB174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338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rviz2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8A247D-17CD-453B-87A7-DFDB5265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481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Vista 3D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C52A55-EE05-437B-9123-DE5065AD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72050"/>
            <a:ext cx="8953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15803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5CFEC2-00F1-4880-87B2-9C390765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81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rPr>
              <a:t>Movimiento cíclico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4273C1-A5CB-45FA-A407-9F5057FC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435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5 posturas clave, interpolación cosenoidal y pinza entre 0 y 0.015 m</a:t>
            </a:r>
          </a:p>
        </p:txBody>
      </p:sp>
    </p:spTree>
    <p:extLst>
      <p:ext uri="{BB962C8B-B14F-4D97-AF65-F5344CB8AC3E}">
        <p14:creationId xmlns:p14="http://schemas.microsoft.com/office/powerpoint/2010/main" val="1648352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ED37D-8854-464A-95AB-1F90A08F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A7F8E-0898-45F6-91F2-7FE4B123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03CE2-841C-4F2E-AD36-D9FB0F88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EVIDENCIA VISUAL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46E61-A999-40F2-A851-5F869273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RViz muestra la cadena completa en una postura dinámica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E68FE-90EE-4A0F-8ABA-1AB81A47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5D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700CF-0954-4A76-B601-27BEA28F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IMT-342  ·  Hito 1  ·  9/14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867cf630b4643"/>
          <a:stretch xmlns:a="http://schemas.openxmlformats.org/drawingml/2006/main"/>
        </p:blipFill>
        <p:spPr>
          <a:xfrm xmlns:a="http://schemas.openxmlformats.org/drawingml/2006/main">
            <a:off x="890588" y="1581150"/>
            <a:ext cx="6772275" cy="4514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8664E-D285-45D8-BF7D-21372624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81150"/>
            <a:ext cx="3276600" cy="45148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5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3B02A-C921-497F-A06D-B558AE49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859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Qué se observa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7EEFD-9E18-4A1F-A990-EF503163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6289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35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Seis eslabones en naranja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35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Pinza paralela montada en tool0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35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Frames de colores visibles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35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Grilla con base_link fijo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35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Postura no nula durante la animación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44C97-E837-44D8-8B65-C21DE3D3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81600"/>
            <a:ext cx="2724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06C0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8D8E1-F868-4490-840A-E2532660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625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Geometría visual provisional</a:t>
            </a:r>
          </a:p>
        </p:txBody>
      </p:sp>
    </p:spTree>
    <p:extLst>
      <p:ext uri="{BB962C8B-B14F-4D97-AF65-F5344CB8AC3E}">
        <p14:creationId xmlns:p14="http://schemas.microsoft.com/office/powerpoint/2010/main" val="9043828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54310C-F1F0-4E8B-8766-3EEEC713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3C0C1-1B1D-41BC-AA26-8F0F7100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83E5C-2DE0-42B8-90C6-4F8DA34D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PROCEDIMIENTO PARA EL AULA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09108-B2E7-431E-B9A7-ED55E1B0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La demostración en vivo cabe en tres acciones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AFE9D-BB37-4CF6-AE8E-ADBC0FE1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5D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60589-B840-48EF-8490-FA5DFBED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IMT-342  ·  Hito 1  ·  10/14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1A6DE-470E-45A1-A897-23BA7CAD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E8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20847-8603-4BE9-B3D0-B0B70A99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A223A-7BAF-4972-B095-98804F68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20496-7AFE-4067-8641-10DF0231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Preparar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64D61-3B61-4560-9CD5-65358B30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9718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545FB-C38E-4C73-A95B-7A057CAD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source /opt/ros/jazzy/setup.bash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cd .../proyecto/ros2_ws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source install/setup.bash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2CB1E-0323-463A-A8B6-8640F8F9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050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6C0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7C28D-E6AB-4352-A75C-96393A2B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C2D01-6A35-4A13-8142-32BF1791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28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1B86C-D50A-42EA-A802-5F5279EC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098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Mostrar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7980E-D5AC-4BB2-ABC7-4D89777A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14650"/>
            <a:ext cx="29718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7C4609-14D4-4E07-BA7B-E0B82E26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105150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ros2 launch irb120_hito1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  display.launch.py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  demo_motion:=true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F61EF3-1C0A-4DEE-8D90-511AB33D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050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A167F1-4A06-4C53-A3E3-597A014E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9D3406-06B2-4BC6-B8F3-DBD5165A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28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043D1-05A7-4CFC-A43E-80C81E83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Cerrar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69177F-1268-4B7D-B30F-89942090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14650"/>
            <a:ext cx="29718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90DAA3-38E8-4642-B89D-CEA85F42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05150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Ctrl+C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7C63FF-4C29-42CF-8C2B-6A9CAD1D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953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15803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E8ED80-65C7-4F93-BDF2-E5635E01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0225"/>
            <a:ext cx="828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 i="0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rPr>
              <a:t>Señal de éxito: la terminal repite APROBADO y RViz mantiene el brazo en movimiento</a:t>
            </a:r>
          </a:p>
        </p:txBody>
      </p:sp>
    </p:spTree>
    <p:extLst>
      <p:ext uri="{BB962C8B-B14F-4D97-AF65-F5344CB8AC3E}">
        <p14:creationId xmlns:p14="http://schemas.microsoft.com/office/powerpoint/2010/main" val="10311859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7A64BF-0404-4641-8B14-78981C67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ECF01-D962-4495-88FD-3E8CC744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F38B2-99EC-4F46-AFF3-10C816F2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MÉTODO DE VALIDACIÓN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D2429-5DA0-4C65-8B99-009A9912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Dos caminos independientes reducen el riesgo de un falso positivo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E6B05-DF41-43AF-B7EE-71FB6918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5D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E4170-4461-463F-A285-7384BB00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IMT-342  ·  Hito 1  ·  11/14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F986B-E2F7-4E51-A936-6BC62DC9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57350"/>
            <a:ext cx="3276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Misma postura q1 ... q6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50B79-D46A-4CDB-88FC-BBA15934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526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03119-5AA1-4991-944C-DD6C4A34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00325"/>
            <a:ext cx="609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1080D-2B1F-4A08-A213-8B0D525F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8889E-ED87-47B7-BECB-ABE4AFB7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00325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3E304-C95D-4572-AF7C-7B560A1F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81325"/>
            <a:ext cx="4095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06C0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42DCA-F6C3-4780-8DCE-F3DC2056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38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Camino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AB49F-F514-4095-BD39-76E684E5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33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Producto de seis matrices DH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24F1A-C49A-46FE-B2F8-BEB88FEE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5B657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 i="0">
                <a:solidFill>
                  <a:srgbClr val="5B6573"/>
                </a:solidFill>
                <a:latin typeface="Liberation Mono"/>
                <a:ea typeface="Liberation Mono"/>
                <a:cs typeface="Liberation Mono"/>
              </a:rPr>
              <a:t>kinematics/dh.py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42E094-04A3-4B20-98E9-4B850FFE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81325"/>
            <a:ext cx="4095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7F4F5"/>
          </a:solidFill>
          <a:ln xmlns:a="http://schemas.openxmlformats.org/drawingml/2006/main" w="9525">
            <a:solidFill>
              <a:srgbClr val="087E8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E5B28-6BD1-4CC1-BFF1-5A8D9469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38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Camino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1E6CF-5146-4718-9E97-0DB0362E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33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0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Recorrido independiente del URDF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C795F-88B4-43CB-B849-78DC14AE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481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5B657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 i="0">
                <a:solidFill>
                  <a:srgbClr val="5B6573"/>
                </a:solidFill>
                <a:latin typeface="Liberation Mono"/>
                <a:ea typeface="Liberation Mono"/>
                <a:cs typeface="Liberation Mono"/>
              </a:rPr>
              <a:t>kinematics/urdf_chain.py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E27B85-07EB-494E-9073-40A22A12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3857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0A832-7654-43FB-8394-45269AD6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530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norma de posición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E081CB-0AB1-4061-B3F9-77D5453D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33925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57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7153C2-78CC-4842-87A9-71518E97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57850"/>
            <a:ext cx="609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15803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5C14F3-E1D9-4AD6-B167-37EECEA2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810250"/>
            <a:ext cx="560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1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 i="0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rPr>
              <a:t>4 posturas documentadas y 100 posturas pseudoaleatorias reproducibles</a:t>
            </a:r>
          </a:p>
        </p:txBody>
      </p:sp>
    </p:spTree>
    <p:extLst>
      <p:ext uri="{BB962C8B-B14F-4D97-AF65-F5344CB8AC3E}">
        <p14:creationId xmlns:p14="http://schemas.microsoft.com/office/powerpoint/2010/main" val="15035821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13CD7-6233-4930-A913-1668BC71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42F75-1ACF-4F90-B825-3198F437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C2234-B6F4-4A21-9135-7DFA3571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RESULTADOS MEDIDOS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25BB7-D59E-47E8-A343-A580CB13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El pasaporte queda aprobado con amplio margen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C95C7-C904-49E7-B027-35C18CCF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5D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51260-4595-4B16-89F6-70BD02A9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IMT-342  ·  Hito 1  ·  12/14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85ECA-409D-4D86-9316-CEA99B83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225" b="1" i="0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rPr>
              <a:t>2.220446049250 x 10⁻¹⁶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A9D75-CF13-4ADA-8660-D8D9253F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error posicional máximo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1190625" y="3086100"/>
          <a:ext xmlns:a="http://schemas.openxmlformats.org/drawingml/2006/main" cx="981075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2857500"/>
                <a:gridCol w="3476625"/>
              </a:tblGrid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Evidencia</a:t>
                      </a:r>
                    </a:p>
                  </a:txBody>
                  <a:tcPr marL="66675" marR="66675" marT="38100" marB="38100" anchor="ctr"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Resultado</a:t>
                      </a:r>
                    </a:p>
                  </a:txBody>
                  <a:tcPr marL="66675" marR="66675" marT="38100" marB="38100" anchor="ctr"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Criterio</a:t>
                      </a:r>
                    </a:p>
                  </a:txBody>
                  <a:tcPr marL="66675" marR="66675" marT="38100" marB="38100" anchor="ctr">
                    <a:solidFill>
                      <a:srgbClr val="15803D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Construcción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 paquete terminado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sin errores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Pruebas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 aprobadas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fallos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Pasaporte offline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2.22 x 10⁻¹⁶ m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menor a 1 x 10⁻⁶ m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Validación en movimiento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APROBADO continuo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DH coincide con URDF</a:t>
                      </a:r>
                    </a:p>
                  </a:txBody>
                  <a:tcPr marL="66675" marR="66675" marT="38100" marB="38100" anchor="ctr">
                    <a:solidFill>
                      <a:srgbClr val="E8ECE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3B613-6F7E-4EF7-87B8-F7CD0C40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53100"/>
            <a:ext cx="2895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APROBADO</a:t>
            </a:r>
          </a:p>
        </p:txBody>
      </p:sp>
    </p:spTree>
    <p:extLst>
      <p:ext uri="{BB962C8B-B14F-4D97-AF65-F5344CB8AC3E}">
        <p14:creationId xmlns:p14="http://schemas.microsoft.com/office/powerpoint/2010/main" val="2095461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5CB5A-22F0-436A-9F66-6AC03EED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0BF18-FDCB-4659-8C58-5D58DD1F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46EDD-AEC9-454F-9C9A-D02DAB9B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ALCANCE ACTUAL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DDC9E-94FB-4612-9AF3-E73887A1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4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La función está cerrada y la apariencia queda preparada para el CAD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06F56-AA17-42BD-A617-ED049270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5D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AC2F5-C1DA-4085-BDD6-2407711E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0" i="0">
                <a:solidFill>
                  <a:srgbClr val="5B6573"/>
                </a:solidFill>
                <a:latin typeface="Liberation Sans"/>
                <a:ea typeface="Liberation Sans"/>
                <a:cs typeface="Liberation Sans"/>
              </a:rPr>
              <a:t>IMT-342  ·  Hito 1  ·  13/14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E2515-FAF4-4717-BC65-0A696F29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2959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15803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62FC7-42FE-4D87-B56B-4E9712F2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 i="0">
                <a:solidFill>
                  <a:srgbClr val="15803D"/>
                </a:solidFill>
                <a:latin typeface="Liberation Sans"/>
                <a:ea typeface="Liberation Sans"/>
                <a:cs typeface="Liberation Sans"/>
              </a:rPr>
              <a:t>Completo hoy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3300B-BDD4-4E00-822F-1C158A45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Seis ejes y pinza articulados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Frames base_link, tool0 y tcp_link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Movimiento manual y automático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Límites articulares oficiales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DH, URDF y pruebas coherentes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Error inferior a 1e-6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AEA5A-B42C-42F4-9307-EF714F20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52768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06C0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EE9D2-AC5D-411D-A9A1-1967BD2D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Pendiente visual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E7787-84F1-4381-93D4-CDF45A31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Formato preferido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E39EF-ACA9-48C9-903D-22CA13D1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2038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.dae visual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804BD-C9F3-466D-A9DE-93B13713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62300"/>
            <a:ext cx="2038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.stl colisión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0B54B-8190-46D5-ABB1-C64F358A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433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Alternativa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C8FD6-6BCC-46F6-AA65-C707EDD5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 i="0">
                <a:solidFill>
                  <a:srgbClr val="17212B"/>
                </a:solidFill>
                <a:latin typeface="Liberation Sans"/>
                <a:ea typeface="Liberation Sans"/>
                <a:cs typeface="Liberation Sans"/>
              </a:rPr>
              <a:t>STEP con cada eslabón como componente independiente, unidades claras y postura cero indicada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6970F-B219-4534-A45D-8009E580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05500"/>
            <a:ext cx="781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5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6D18A-578F-4826-A371-2B175925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0102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087E8B"/>
                </a:solidFill>
                <a:latin typeface="Liberation Sans"/>
                <a:ea typeface="Liberation Sans"/>
                <a:cs typeface="Liberation Sans"/>
              </a:rPr>
              <a:t>El CAD sustituye visual y collision. No cambia joints, frames ni DH.</a:t>
            </a:r>
          </a:p>
        </p:txBody>
      </p:sp>
    </p:spTree>
    <p:extLst>
      <p:ext uri="{BB962C8B-B14F-4D97-AF65-F5344CB8AC3E}">
        <p14:creationId xmlns:p14="http://schemas.microsoft.com/office/powerpoint/2010/main" val="15559841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091D3E-A953-424A-B137-5E73056E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D524D-5D0E-4E6E-AEDD-19A4209A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Hito 1 aprobado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49F77-1285-4234-BC96-9350B4FC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B7C4C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 i="0">
                <a:solidFill>
                  <a:srgbClr val="B7C4CF"/>
                </a:solidFill>
                <a:latin typeface="Liberation Sans"/>
                <a:ea typeface="Liberation Sans"/>
                <a:cs typeface="Liberation Sans"/>
              </a:rPr>
              <a:t>Tres ideas para recordar en la defensa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27487-A560-42A9-9C40-DAFEAEF4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C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70B06-F07A-41F3-84D6-90D92907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39685-FFB4-43B4-A924-697BD561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431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URDF describe el robot y Xacro organiza sus módulos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24FB6-2327-4F1B-9CBE-A2D6FA4F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A03E1-F638-437E-B703-EB5DADE9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37441-9559-454E-8C22-37593AF4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194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DH y URDF se validan por caminos independientes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0B9C9-CFCD-4299-975A-ECFD5908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89707-8E5F-4F39-8389-96EE9BB6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2F0B8-860D-41B0-A416-32512EA4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957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El CAD pendiente cambia la forma, no la cinemática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EF023-67F3-40F1-9AC3-45DA5947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71550"/>
            <a:ext cx="2724150" cy="40767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22303D"/>
          </a:solidFill>
          <a:ln xmlns:a="http://schemas.openxmlformats.org/drawingml/2006/main" w="9525">
            <a:solidFill>
              <a:srgbClr val="3C4D5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1ADB13-250D-45ED-8449-37F99826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144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9ED7D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9ED7DD"/>
                </a:solidFill>
                <a:latin typeface="Liberation Sans"/>
                <a:ea typeface="Liberation Sans"/>
                <a:cs typeface="Liberation Sans"/>
              </a:rPr>
              <a:t>Comandos finales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016FA-7B11-4045-B305-FDA0FDE1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812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Validar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3F4B5-C661-4D74-91C9-306B5147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4315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ros2 run irb120_hito1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125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verify_model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FB44F-A9A1-496C-A87C-16980662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004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F06C00"/>
                </a:solidFill>
                <a:latin typeface="Liberation Sans"/>
                <a:ea typeface="Liberation Sans"/>
                <a:cs typeface="Liberation Sans"/>
              </a:rPr>
              <a:t>Demostrar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987E0-87E3-4482-90E2-64E4B4A8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43300"/>
            <a:ext cx="2343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ros2 launch irb120_hito1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display.launch.py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 i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demo_motion:=true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C77379-9F03-4A0E-B955-E73DD212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14850"/>
            <a:ext cx="1733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Preguntas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E8B4D-D028-4A66-AC98-E9E01EA8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6ED18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 i="0">
                <a:solidFill>
                  <a:srgbClr val="6ED18C"/>
                </a:solidFill>
                <a:latin typeface="Liberation Sans"/>
                <a:ea typeface="Liberation Sans"/>
                <a:cs typeface="Liberation Sans"/>
              </a:rPr>
              <a:t>2.22 x 10⁻¹⁶ m  ·  9 pruebas  ·  6 ejes + pinza</a:t>
            </a:r>
          </a:p>
        </p:txBody>
      </p:sp>
    </p:spTree>
    <p:extLst>
      <p:ext uri="{BB962C8B-B14F-4D97-AF65-F5344CB8AC3E}">
        <p14:creationId xmlns:p14="http://schemas.microsoft.com/office/powerpoint/2010/main" val="5058390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2026-09-10T18:07:50.5140000Z</dcterms:created>
  <dcterms:modified xsi:type="dcterms:W3CDTF">2026-09-10T18:07:50.5140000Z</dcterms:modified>
</coreProperties>
</file>