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ec460dd324639" /><Relationship Type="http://schemas.openxmlformats.org/officeDocument/2006/relationships/extended-properties" Target="/docProps/app.xml" Id="R7d746d3952684bb8" /><Relationship Type="http://schemas.openxmlformats.org/officeDocument/2006/relationships/officeDocument" Target="/ppt/presentation.xml" Id="R785b0a53e97749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0ebb07c604740"/>
  </p:sldMasterIdLst>
  <p:notesMasterIdLst>
    <p:notesMasterId xmlns:r="http://schemas.openxmlformats.org/officeDocument/2006/relationships" r:id="R55679c328c6a4e30"/>
  </p:notesMasterIdLst>
  <p:sldIdLst>
    <p:sldId xmlns:r="http://schemas.openxmlformats.org/officeDocument/2006/relationships" id="256" r:id="R596a902cc6874fe5"/>
    <p:sldId xmlns:r="http://schemas.openxmlformats.org/officeDocument/2006/relationships" id="257" r:id="R6039e20039d14568"/>
    <p:sldId xmlns:r="http://schemas.openxmlformats.org/officeDocument/2006/relationships" id="258" r:id="Ra6913b17bca7492f"/>
    <p:sldId xmlns:r="http://schemas.openxmlformats.org/officeDocument/2006/relationships" id="259" r:id="R018c747450c34d10"/>
    <p:sldId xmlns:r="http://schemas.openxmlformats.org/officeDocument/2006/relationships" id="260" r:id="Rf73cd50a477146c1"/>
    <p:sldId xmlns:r="http://schemas.openxmlformats.org/officeDocument/2006/relationships" id="261" r:id="R0c7adeb037514ac8"/>
    <p:sldId xmlns:r="http://schemas.openxmlformats.org/officeDocument/2006/relationships" id="262" r:id="R2df1520ad8fd4b74"/>
    <p:sldId xmlns:r="http://schemas.openxmlformats.org/officeDocument/2006/relationships" id="263" r:id="Rffa6ad8d22a84592"/>
    <p:sldId xmlns:r="http://schemas.openxmlformats.org/officeDocument/2006/relationships" id="264" r:id="Rb7a1ae060b4b4031"/>
    <p:sldId xmlns:r="http://schemas.openxmlformats.org/officeDocument/2006/relationships" id="265" r:id="R8ffd3dbe65834fe3"/>
    <p:sldId xmlns:r="http://schemas.openxmlformats.org/officeDocument/2006/relationships" id="266" r:id="R0d214121c55d4a0e"/>
    <p:sldId xmlns:r="http://schemas.openxmlformats.org/officeDocument/2006/relationships" id="267" r:id="R9889bdeaccfd4bd2"/>
    <p:sldId xmlns:r="http://schemas.openxmlformats.org/officeDocument/2006/relationships" id="268" r:id="R97a566327d524413"/>
    <p:sldId xmlns:r="http://schemas.openxmlformats.org/officeDocument/2006/relationships" id="269" r:id="Rd4b579d221cb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7405ad89f45b7" /><Relationship Type="http://schemas.openxmlformats.org/officeDocument/2006/relationships/slideMaster" Target="/ppt/slideMasters/slideMaster1.xml" Id="R0e60ebb07c604740" /><Relationship Type="http://schemas.openxmlformats.org/officeDocument/2006/relationships/notesMaster" Target="/ppt/notesMasters/notesMaster1.xml" Id="R55679c328c6a4e30" /><Relationship Type="http://schemas.openxmlformats.org/officeDocument/2006/relationships/presProps" Target="/ppt/presProps.xml" Id="Ree307c04f7e343e5" /><Relationship Type="http://schemas.openxmlformats.org/officeDocument/2006/relationships/tableStyles" Target="/ppt/tableStyles.xml" Id="Rbd622aab8a194790" /><Relationship Type="http://schemas.openxmlformats.org/officeDocument/2006/relationships/slide" Target="/ppt/slides/slide1.xml" Id="R596a902cc6874fe5" /><Relationship Type="http://schemas.openxmlformats.org/officeDocument/2006/relationships/slide" Target="/ppt/slides/slide2.xml" Id="R6039e20039d14568" /><Relationship Type="http://schemas.openxmlformats.org/officeDocument/2006/relationships/slide" Target="/ppt/slides/slide3.xml" Id="Ra6913b17bca7492f" /><Relationship Type="http://schemas.openxmlformats.org/officeDocument/2006/relationships/slide" Target="/ppt/slides/slide4.xml" Id="R018c747450c34d10" /><Relationship Type="http://schemas.openxmlformats.org/officeDocument/2006/relationships/slide" Target="/ppt/slides/slide5.xml" Id="Rf73cd50a477146c1" /><Relationship Type="http://schemas.openxmlformats.org/officeDocument/2006/relationships/slide" Target="/ppt/slides/slide6.xml" Id="R0c7adeb037514ac8" /><Relationship Type="http://schemas.openxmlformats.org/officeDocument/2006/relationships/slide" Target="/ppt/slides/slide7.xml" Id="R2df1520ad8fd4b74" /><Relationship Type="http://schemas.openxmlformats.org/officeDocument/2006/relationships/slide" Target="/ppt/slides/slide8.xml" Id="Rffa6ad8d22a84592" /><Relationship Type="http://schemas.openxmlformats.org/officeDocument/2006/relationships/slide" Target="/ppt/slides/slide9.xml" Id="Rb7a1ae060b4b4031" /><Relationship Type="http://schemas.openxmlformats.org/officeDocument/2006/relationships/slide" Target="/ppt/slides/slide10.xml" Id="R8ffd3dbe65834fe3" /><Relationship Type="http://schemas.openxmlformats.org/officeDocument/2006/relationships/slide" Target="/ppt/slides/slide11.xml" Id="R0d214121c55d4a0e" /><Relationship Type="http://schemas.openxmlformats.org/officeDocument/2006/relationships/slide" Target="/ppt/slides/slide12.xml" Id="R9889bdeaccfd4bd2" /><Relationship Type="http://schemas.openxmlformats.org/officeDocument/2006/relationships/slide" Target="/ppt/slides/slide13.xml" Id="R97a566327d524413" /><Relationship Type="http://schemas.openxmlformats.org/officeDocument/2006/relationships/slide" Target="/ppt/slides/slide14.xml" Id="Rd4b579d221cb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d820ad6504f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531e0309db4942" /><Relationship Type="http://schemas.openxmlformats.org/officeDocument/2006/relationships/notesMaster" Target="/ppt/notesMasters/notesMaster1.xml" Id="R9937692925b344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5793367d24ef6" /><Relationship Type="http://schemas.openxmlformats.org/officeDocument/2006/relationships/notesMaster" Target="/ppt/notesMasters/notesMaster1.xml" Id="R26574df383c3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0131abded04a9c" /><Relationship Type="http://schemas.openxmlformats.org/officeDocument/2006/relationships/notesMaster" Target="/ppt/notesMasters/notesMaster1.xml" Id="Re5aadcbf703e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f885aad7e44818" /><Relationship Type="http://schemas.openxmlformats.org/officeDocument/2006/relationships/notesMaster" Target="/ppt/notesMasters/notesMaster1.xml" Id="R97a60e65f117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6e6c7f904445b" /><Relationship Type="http://schemas.openxmlformats.org/officeDocument/2006/relationships/notesMaster" Target="/ppt/notesMasters/notesMaster1.xml" Id="R807622408022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7f0f71b8cf4f12" /><Relationship Type="http://schemas.openxmlformats.org/officeDocument/2006/relationships/notesMaster" Target="/ppt/notesMasters/notesMaster1.xml" Id="R7f2d8a1130ee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59f3e5f2d64fe8" /><Relationship Type="http://schemas.openxmlformats.org/officeDocument/2006/relationships/notesMaster" Target="/ppt/notesMasters/notesMaster1.xml" Id="Rd1d3e322fb9d40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812ef80cd94f23" /><Relationship Type="http://schemas.openxmlformats.org/officeDocument/2006/relationships/notesMaster" Target="/ppt/notesMasters/notesMaster1.xml" Id="R9ef6b96932e843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f73b0f2ed9427e" /><Relationship Type="http://schemas.openxmlformats.org/officeDocument/2006/relationships/notesMaster" Target="/ppt/notesMasters/notesMaster1.xml" Id="R507e12edebcf4c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c2b3d703b84b00" /><Relationship Type="http://schemas.openxmlformats.org/officeDocument/2006/relationships/notesMaster" Target="/ppt/notesMasters/notesMaster1.xml" Id="R5f07f031a7e2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fefe9a4cf841d0" /><Relationship Type="http://schemas.openxmlformats.org/officeDocument/2006/relationships/notesMaster" Target="/ppt/notesMasters/notesMaster1.xml" Id="Rd32c6777824a41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c246b4d57436b" /><Relationship Type="http://schemas.openxmlformats.org/officeDocument/2006/relationships/notesMaster" Target="/ppt/notesMasters/notesMaster1.xml" Id="Rbf831978af6c40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6c970f6b6f4395" /><Relationship Type="http://schemas.openxmlformats.org/officeDocument/2006/relationships/notesMaster" Target="/ppt/notesMasters/notesMaster1.xml" Id="R0a7f973718164e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1b19bab63246f2" /><Relationship Type="http://schemas.openxmlformats.org/officeDocument/2006/relationships/notesMaster" Target="/ppt/notesMasters/notesMaster1.xml" Id="Ra52401e453c8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implementacion local del paquete irb120_hito1 y resultados de sus pruebas automatizadas.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basado en la Guia PFI y el worksheet de validacion entregados por 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derivada de launch/display.launch.py y de los nodos del paquete irb120_hito1.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actual del repositorio, carpeta ros2_ws/src/irb120_hito1.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tabla DH usada por kinematics/dh.py y documentada en docs/hito1/modelo_cinematico.md.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Derivacion completa: docs/hito1/modelo_cinematico.md. La equivalencia se comprueba contra la cadena URDF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origins definidos en urdf/irb120.macro.xacro y validados en test/test_kinematics.py.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comprobada con check_urdf y con test_model_has_exact_six_joint_serial_tree.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geometria visual provisional no altera los frames. La fisica queda fuera del alcance de este Hito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implementada en kinematics/urdf_chain.py y mostrada por verify_model.py. El valor observado es error de redondeo numerico.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generados por ros2 run irb120_hito1 verify_model.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RViz no detecta colisiones. Para una prueba formal se necesitan mallas collision y MoveIt 2 o un simulador apropiado.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obtenidos localmente con colcon test y ros2 run irb120_hito1 verify_model.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empezar, cerrar cualquier launch antiguo con Ctrl+C para no visualizar el modelo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eab24e24948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0d4fd29644444e" /><Relationship Type="http://schemas.openxmlformats.org/officeDocument/2006/relationships/slideLayout" Target="/ppt/slideLayouts/slideLayout1.xml" Id="R14ecd7f3c9c040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ecd7f3c9c040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36959a75469d" /><Relationship Type="http://schemas.openxmlformats.org/officeDocument/2006/relationships/notesSlide" Target="/ppt/notesSlides/notesSlide1.xml" Id="R29e2dacaab8f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7cab78fb64dd8" /><Relationship Type="http://schemas.openxmlformats.org/officeDocument/2006/relationships/notesSlide" Target="/ppt/notesSlides/notesSlide2.xml" Id="R5834a8c2b86245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0773a6a244395" /><Relationship Type="http://schemas.openxmlformats.org/officeDocument/2006/relationships/notesSlide" Target="/ppt/notesSlides/notesSlide3.xml" Id="Rffdbf5dad3b943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4ccf67cbf438b" /><Relationship Type="http://schemas.openxmlformats.org/officeDocument/2006/relationships/notesSlide" Target="/ppt/notesSlides/notesSlide4.xml" Id="Re939a885e6a5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b430be7294f51" /><Relationship Type="http://schemas.openxmlformats.org/officeDocument/2006/relationships/notesSlide" Target="/ppt/notesSlides/notesSlide5.xml" Id="R416b3146384c4d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71d4f00af48a3" /><Relationship Type="http://schemas.openxmlformats.org/officeDocument/2006/relationships/notesSlide" Target="/ppt/notesSlides/notesSlide6.xml" Id="Rcf2fd9a8d09845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96abf9c5c4d83" /><Relationship Type="http://schemas.openxmlformats.org/officeDocument/2006/relationships/notesSlide" Target="/ppt/notesSlides/notesSlide7.xml" Id="R01a7b414a07341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107b34d574e9a" /><Relationship Type="http://schemas.openxmlformats.org/officeDocument/2006/relationships/notesSlide" Target="/ppt/notesSlides/notesSlide8.xml" Id="R152200077bfa45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bb90b488c4b67" /><Relationship Type="http://schemas.openxmlformats.org/officeDocument/2006/relationships/notesSlide" Target="/ppt/notesSlides/notesSlide9.xml" Id="R2921e113665442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5cc45c89498d" /><Relationship Type="http://schemas.openxmlformats.org/officeDocument/2006/relationships/notesSlide" Target="/ppt/notesSlides/notesSlide10.xml" Id="Rb237cf11b1d5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ba2ed0d8544ca" /><Relationship Type="http://schemas.openxmlformats.org/officeDocument/2006/relationships/notesSlide" Target="/ppt/notesSlides/notesSlide11.xml" Id="R5456eb69c4f34e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bedbf6a0f4abb" /><Relationship Type="http://schemas.openxmlformats.org/officeDocument/2006/relationships/notesSlide" Target="/ppt/notesSlides/notesSlide12.xml" Id="Rf348429a496b46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4e860b30f44a0" /><Relationship Type="http://schemas.openxmlformats.org/officeDocument/2006/relationships/notesSlide" Target="/ppt/notesSlides/notesSlide13.xml" Id="Rb53ea9f2212445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6448ee36466e" /><Relationship Type="http://schemas.openxmlformats.org/officeDocument/2006/relationships/notesSlide" Target="/ppt/notesSlides/notesSlide14.xml" Id="Rc39d3fd402ac4b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D1C70-3537-48C3-B5CF-6C6695EB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1058C-74C7-4774-BFE6-1D29F02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7145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317E3-90DB-43A5-A587-EEDDC30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IMT-342 | PROYECTO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12DFC-DD78-485D-9D04-A1EC2C09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ABB IRB 120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 ROS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1A5BD-44EA-43D1-AD6C-38EBB756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rPr>
              <a:t>Hito 1 corregido: seis juntas, conversion DH a URDF y validacion numerica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DB75B-BCD2-46F7-AF0E-1E478B2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5375"/>
            <a:ext cx="3238500" cy="371475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2B46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E2FD8-0F0C-4FBE-AADC-6887041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3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9B817-0147-4AF3-AD8E-4AECC117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juntas revolutas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6 marcos moviles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 juntas fijas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B8918-B051-42E6-B0AD-437C4047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rPr>
              <a:t>12 pruebas aprobadas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rPr>
              <a:t>error max. 1.12e-16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B695C-795F-4A77-BE6E-E2E77214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57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FC0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AFC0D4"/>
                </a:solidFill>
                <a:latin typeface="Liberation Sans"/>
                <a:ea typeface="Liberation Sans"/>
                <a:cs typeface="Liberation Sans"/>
              </a:rPr>
              <a:t>Modelo cinematico defendible | Version para examen</a:t>
            </a:r>
          </a:p>
        </p:txBody>
      </p:sp>
    </p:spTree>
    <p:extLst>
      <p:ext uri="{BB962C8B-B14F-4D97-AF65-F5344CB8AC3E}">
        <p14:creationId xmlns:p14="http://schemas.microsoft.com/office/powerpoint/2010/main" val="1724044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3823BA-69AD-44DD-87FB-3DAF7EB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058B-1CFB-4A00-8E02-B0E3AD1A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3BF27-DF22-443D-869A-728D9934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MODELO CORREGIDO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C6205-EF19-4AD6-B068-605E466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Que se corrigio y que entrega el Hito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A0C26-F26F-474E-B3B9-D70AAB86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E0F7-ABCE-477B-9B86-A014F83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E761B-70A8-4DB3-BC97-AD9D7F2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923BD-629B-475E-BDC8-9920C03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2863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1EBBB-1947-4545-A915-61B06C46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2F82F-7AD0-4148-9696-87CBF4F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494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Arbol minimo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2C92B-ADD9-4219-8664-7D5FFDA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4943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base_link como raiz y seis transformaciones variables. No existen theta_frame, dh_frame ni joints fijos.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B3C82-4F85-4936-BCD4-CC3EBD4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5530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D1BCD-0816-4E16-8F1C-5AFB68CA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BD10F-B870-42FC-9ACF-EFEE14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21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Cinematica demostrada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5E06F-B2AB-45DF-900F-9A902D7B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52101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La tabla DH clasica y la cadena URDF producen la misma posicion y orientacion para las configuraciones probadas.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82B69-8898-41DF-ABF4-EB57F14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52863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6079A-5D43-48B8-B048-B09C995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E2149-E228-4DC9-ADA7-BFCE3BD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494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Sin fisica inventada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28B92-696A-4D2C-8C3F-DDB18C17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7675"/>
            <a:ext cx="4943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Se eliminaron inertial y collision porque aun no existe CAD validado ni simulacion dinamica en el alcance.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FB84A-0F0D-45B7-AC14-84C4AD0F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5530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A92CB-6384-4A9C-BEED-411EC0B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8B743-03B5-4A1E-AFE9-20E6107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521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Demostracion sencilla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D8F77-546C-4022-BB4B-F5F35B1D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52101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RViz muestra el brazo y una interfaz ofrece una barra por cada una de las seis juntas.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A1BD9-718B-4A26-90B2-C2BC894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94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CAD pendiente: no bloquea la evaluacion cinematica del Hito 1.</a:t>
            </a:r>
          </a:p>
        </p:txBody>
      </p:sp>
    </p:spTree>
    <p:extLst>
      <p:ext uri="{BB962C8B-B14F-4D97-AF65-F5344CB8AC3E}">
        <p14:creationId xmlns:p14="http://schemas.microsoft.com/office/powerpoint/2010/main" val="93501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D4F5E-340F-4351-92AB-5D1E191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D63EB-84CF-46F1-A858-917D31B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7925A-0786-4D7E-BE69-FBE5420F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60667-CFEE-4EAF-9083-92554B9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Como fluye la informacion en ROS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1C6E6-BFDC-4961-A21D-A0D72381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D19C0-EC7C-416D-9496-FB03ECF0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A5FCC-B5F8-4538-8CDE-3C77FA1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8BC09-ABDB-495C-A0E6-1068B714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18097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8DB68-16EB-4C09-8A28-9D18F34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6 deslizadores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48847-F97B-4FE7-AD24-710843C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q1 ... q6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E9733-F902-4C30-AE1F-3F27885D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39E1C-8146-4706-A20E-B93AE85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9526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586A-46D8-4B81-9CDD-4CD1977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48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joint_state_source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D838C-4949-4873-8400-6FC82803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/joint_states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7D8EE-19AC-463E-BEC6-56410784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4DDA1-FD8A-4723-908A-81AB938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19526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BCDA7-3DB2-466B-9818-F3E5917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38400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797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robot_state_publisher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25E95-60AE-46C1-9033-EBD511B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5275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URDF + 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3CACF-9B48-4382-8C40-1C45066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83A8D-A4F7-4EBC-A432-3F1F0D5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7621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8B5FA-7A1C-4C15-AEA1-7EFFD317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38400"/>
            <a:ext cx="1533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CB699-9337-407C-9FB3-8FD5B0F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533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transformaciones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13AE3-43A0-492F-831F-36512E4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9CDC22-7C24-4BF4-93DB-959A9C0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66950"/>
            <a:ext cx="18097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14288">
            <a:solidFill>
              <a:srgbClr val="167D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92C18-CDAF-4369-9FD4-04C33E89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38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RViz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F57F2-0547-4993-8281-B9CD0D88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RobotModel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361EA-24E4-49EB-9E8A-338E0AC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195262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580E3-B42D-4318-A10D-6BC4128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fk_validator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CB0BA-8687-4055-BE06-A788D35C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81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compara DH vs URDF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9F248-4299-46A1-9C1B-AA028EF7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768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El validador observa la misma cadena que ve RViz y publica APROBADO mientras el brazo se mueve.</a:t>
            </a:r>
          </a:p>
        </p:txBody>
      </p:sp>
    </p:spTree>
    <p:extLst>
      <p:ext uri="{BB962C8B-B14F-4D97-AF65-F5344CB8AC3E}">
        <p14:creationId xmlns:p14="http://schemas.microsoft.com/office/powerpoint/2010/main" val="380089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8FDA5-3FD6-4FF4-931D-BD3D7AD0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E24B6-8019-487A-BEF6-40C61C2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05589-2EF6-4E59-B93D-3274F995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ORGANIZACION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60FA0-CB5E-4047-ABCF-C3030C2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Paquete modular y archivos que quedaron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AD37A-96DF-40C7-B073-63216523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61C0-5591-4271-96F4-A014863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ACF58-62ED-4690-8798-160EA20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6D9AF-8DBA-4244-B304-DC46112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5245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A10B7-D0F7-474E-9FD6-E8FA813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857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irb120_hito1/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urdf/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irb120.macro.xacro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irb120.urdf.xacro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irb120.urdf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launch/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display.launch.py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config/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irb120.rviz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irb120_hito1/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kinematics/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slider_gui.py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joint_state_source.py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fk_validator.py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verify_model.py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test/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85BFF-1697-4F37-99B3-49C8F8A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2197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1B21F-7529-4E4D-A979-C82F9C0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D9066-18B6-4136-A144-B65B2C8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1925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Eliminado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999C0-C998-4F95-A25F-9F46818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1930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gripper.macro.xacro y la junta de pinza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4BC39-0AB0-4F6E-A140-6729DD7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52197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6400A-D933-487F-9371-5B6EA97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628F6-23AA-400C-BD58-9608C62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480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Eliminado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FE1ED-4846-4A8B-953C-3C3DFDA0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480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theta_*_frame, dh_*_frame y joints fijos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76385-5335-4C4C-9D21-2C02145D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52197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9D48F-8B3B-4AA9-A00B-18B5E20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E66C1B-AA17-420D-ADAB-5CA53282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Separacion clara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3FCCA-03EC-493F-AE66-D6C53213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76800"/>
            <a:ext cx="4876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URDF describe la cadena; kinematics calcula; los nodos ROS publican y validan; test comprueba la estructura.</a:t>
            </a:r>
          </a:p>
        </p:txBody>
      </p:sp>
    </p:spTree>
    <p:extLst>
      <p:ext uri="{BB962C8B-B14F-4D97-AF65-F5344CB8AC3E}">
        <p14:creationId xmlns:p14="http://schemas.microsoft.com/office/powerpoint/2010/main" val="1742258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7E6B-DB60-4CB0-83B2-80DE258A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6C2F-13B4-45A0-B52D-CBDC32A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C1B64-F571-4737-B463-8EEDCC7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MODELO MATEMATICO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B0CAF-C208-4033-84AC-C5C32C2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Tabla Denavit-Hartenberg clasica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6B46C-024D-4B24-BD40-2863D1E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D2BAA-35F9-4D83-B2BD-F96E5C5E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E42E-62B8-41FA-AFFD-EC497B5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6C957-C34B-4510-8B0B-54346E7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7D8D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1">
                <a:solidFill>
                  <a:srgbClr val="167D8D"/>
                </a:solidFill>
                <a:latin typeface="Liberation Mono"/>
                <a:ea typeface="Liberation Mono"/>
                <a:cs typeface="Liberation Mono"/>
              </a:rPr>
              <a:t>A_i = Rz(theta_i) Tz(d_i) Tx(a_i) Rx(alpha_i)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047750" y="2095500"/>
          <a:ext xmlns:a="http://schemas.openxmlformats.org/drawingml/2006/main" cx="10096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762250"/>
                <a:gridCol w="2000250"/>
                <a:gridCol w="2000250"/>
                <a:gridCol w="2286000"/>
              </a:tblGrid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theta_i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d_i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a_i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alpha_i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0.290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q2 - pi/2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0.270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0.302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q6 + pi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FB57A-CA4A-447B-BDBC-8B948B97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Unidades: metros y radianes. Cada q_i es el angulo variable de una junta.</a:t>
            </a:r>
          </a:p>
        </p:txBody>
      </p:sp>
    </p:spTree>
    <p:extLst>
      <p:ext uri="{BB962C8B-B14F-4D97-AF65-F5344CB8AC3E}">
        <p14:creationId xmlns:p14="http://schemas.microsoft.com/office/powerpoint/2010/main" val="1966428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C4043-965F-4A8A-9069-1C25D425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47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00088-7907-4CA3-BACF-B48E2E56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0"/>
            <a:ext cx="1014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69CA7-3828-4CD0-981E-9B2FB584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CONVERSION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7FD7A-8039-43CB-B86E-4FEC1DD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DH no se copia fila por fila en 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702C3-9CB9-475D-96E7-757F4A64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En DH clasico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2CA42-A584-4D3C-BB2C-7B5A3141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476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38516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A_i(q_i) = Rz(q_i) B_i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BD5ED-F1AE-481C-96F6-A169128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8C6F-F66C-4326-BD3E-BB16C6F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En URDF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303FC-4F3A-4BFB-88FE-351A21D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3571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38516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T_i(q_i) = O_i Rz(q_i)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1265E-3075-4E8F-9293-36C517F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60071-B44F-44A0-A38B-3B912C6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14550"/>
            <a:ext cx="1476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Mover B_i 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origin siguiente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E0A74-1798-4E4B-9892-11D22C3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C9D6E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C9D6E5"/>
                </a:solidFill>
                <a:latin typeface="Liberation Mono"/>
                <a:ea typeface="Liberation Mono"/>
                <a:cs typeface="Liberation Mono"/>
              </a:rPr>
              <a:t>B_i = Tz(d_i) Tx(a_i) Rx(alpha_i)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5A271-35C2-4E5F-998F-5CD63941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23B59"/>
          </a:solidFill>
          <a:ln xmlns:a="http://schemas.openxmlformats.org/drawingml/2006/main" w="14288">
            <a:solidFill>
              <a:srgbClr val="365777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Resultado: la misma matriz T_0_6 con solo seis joints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4BE3C-2A25-473B-9342-2B92A59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rPr>
              <a:t>Los offsets -pi/2 y +pi se combinan en los RPY de los origin. La igualdad se verifica numericamente.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726C0-9B92-4B9B-84D7-C1BC32A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7629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7159F-6560-4FEF-973B-EA87FC3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EF788-5670-4FA9-A22E-A3228AD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EFED6-2881-4787-9A42-78E09B9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DH A 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BB09C-AB7D-4C1F-AB19-3FAF204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Coordenadas joint/origin usadas por 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BB989-7272-4CCB-8898-13C43D6D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201F1-5DF9-48B3-84D9-087144DB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82A5D-5C8B-45D5-AE50-55CE36BF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952750"/>
                <a:gridCol w="4000500"/>
                <a:gridCol w="1809750"/>
              </a:tblGrid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origin xyz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origin rpy [rad]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axis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0  0  0.290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  -pi/2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0.270  0  0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0.070  0  0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  0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0  0  0.302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joint_6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0  0.072  0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  0  pi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14152-904B-4470-9779-5B2D5D7F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Por que axis = 0 0 1 en todas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29E1B-169C-4CD2-AF9B-18D77735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DH define cada giro alrededor del eje z local; los RPY orientan ese z local en el espacio.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6AC3F-D824-4EE6-85FA-5B0C67B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4288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joint_6: Tz(0.072) y Rz(q6) conmutan</a:t>
            </a:r>
          </a:p>
        </p:txBody>
      </p:sp>
    </p:spTree>
    <p:extLst>
      <p:ext uri="{BB962C8B-B14F-4D97-AF65-F5344CB8AC3E}">
        <p14:creationId xmlns:p14="http://schemas.microsoft.com/office/powerpoint/2010/main" val="1389218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32AC5-4E5C-40CA-94CC-A8221B22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B1971-47AA-4B07-8BE4-D412BA7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186FA-AFEF-48F7-BA8E-9F88068D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TF / 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9AC3F-8BC1-4428-BA6F-2938C354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Arbol jerarquico: seis marcos moviles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8C689-9725-4257-B1DA-D575E0B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836D-54A1-42CB-8B4E-8DAB8C5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94E27-A2A6-4C84-8413-C61D12C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6AB1E-FC43-48B6-B6B5-A120E70C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BEDD7-317F-449F-9537-1FA7741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base_link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84F7B-45F0-46D5-90FE-6D15171E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82E3B-B580-4B1A-B124-AC06B23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941CA-9DE0-4A14-9941-60623FC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AFC53-60E4-4710-8FE5-ED4FD649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3DE34-D16B-4744-BEA1-F8BEDF8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08492-1C67-45A6-8D2B-4B03D9B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6F13B-54FD-4F87-9702-CCB9A28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51D8E-0300-4769-9EF3-29100139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028E4-8DAA-483D-982C-1570799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AF7B6-B36F-4162-B053-1D5F9A1A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F37B5-F3CB-4ED2-8B0B-79316F65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EA92F-458A-4CA7-9478-ACC9AD0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A3417-9F44-4E38-B9C7-B188D3D3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603AA-E7CB-4595-9583-E7D02E1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296A2-409B-4A63-BDA2-8494417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CB5D7-9E67-4E77-86F0-37E3D8A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28E3D-4C65-4457-BD0A-4DAB8D7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03494E-4C9E-4DC3-A0E9-815F731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94F51-358A-4A85-AAAE-C5661A9A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CD9AC-E4AF-40D0-A44C-F3502D70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2553AF-4D8E-4398-9CB0-5B013D2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115DC-A8E9-440A-B151-AA9FC71D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EDE909-16C3-441C-AD0C-359069CB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B5BEC-B0E7-4155-A4FA-EF3F4A0F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tool0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60D042-8B44-4EE6-806D-2034C1CA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7 links totales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DBE54-6395-4B48-BF2A-0DE09DF8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6 joints revolute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72AB8-888D-4002-ADA1-72B247BF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8DCC6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0 joints fixed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50ED3A-1333-41CC-9ECB-AE506E2E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base_link no es una septima articulacion: es la raiz fija que ROS necesita.</a:t>
            </a:r>
          </a:p>
        </p:txBody>
      </p:sp>
    </p:spTree>
    <p:extLst>
      <p:ext uri="{BB962C8B-B14F-4D97-AF65-F5344CB8AC3E}">
        <p14:creationId xmlns:p14="http://schemas.microsoft.com/office/powerpoint/2010/main" val="1689254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192BF-DA06-490F-B547-ADB06D1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31FCA-84EE-4E4B-817B-72F598F8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858A2-A05A-47BC-A2FD-EB379D82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81F75-88F0-4B15-A6FC-79A9DB9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Tres conceptos que no deben confundirse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410FA-F366-46D0-B8ED-42B06737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399D0-FC81-4D33-AD35-0D093007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0C3-C6DC-48EA-92CF-0483632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880A7-D32A-48DD-B76A-6DCEF12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429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CBE99-1B9B-4475-934A-78AC4DF0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B4318-6A8A-469F-9F18-2A1CF68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975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joint/origin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8444F-09C7-45C5-AF0D-226B7D80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9800"/>
            <a:ext cx="30861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Define la transformacion cinematica padre-hijo. Sus xyz y rpy si afectan la posicion y orientacion de los marcos TF.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F94B5-557C-4FE4-930C-DC0AE8A7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429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8AE4D-0514-4E16-9146-C46B816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AF81B-F4AD-4295-BD26-3BE3211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visual/origin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4A39A-C929-4C7D-91FE-045BB71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861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Mueve solamente el cilindro, la caja o la esfera para centrar el dibujo. No crea marcos TF ni cambia la cinematica.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40AB4-8951-437C-9265-3B2EA90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4099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971E4-E853-45F9-B03E-91FA886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67D47-947A-42F7-99E5-FEE95D5D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097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inertial/origin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D8830-2104-4B3E-B84A-76E882C5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09800"/>
            <a:ext cx="30670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Ubicaria el centro de masa para dinamica. Fue eliminado porque no existe una simulacion fisica ni datos CAD validados.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7F998-ACA7-43E1-8A88-FCEF8891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En la version final: 0 &lt;inertial&gt; y 0 &lt;collision&gt;</a:t>
            </a:r>
          </a:p>
        </p:txBody>
      </p:sp>
    </p:spTree>
    <p:extLst>
      <p:ext uri="{BB962C8B-B14F-4D97-AF65-F5344CB8AC3E}">
        <p14:creationId xmlns:p14="http://schemas.microsoft.com/office/powerpoint/2010/main" val="1019981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6BC372-53B6-4526-8F6A-3E8EB96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81BC1-4947-488C-88A4-A9474D9A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7AFBC-8E95-44A8-8D7A-A67683C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VALIDACION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563E-36E5-48FF-93FD-D55A856B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Como calculamos el error DH frente a URDF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24357-5BB8-4C5F-A21F-5952520A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4F53-6727-46D2-93EA-71D4261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5F207-F4D5-422B-9BC9-EE271EC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E3204-4C7C-4906-9FFB-24886281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81012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41471-662B-4100-9BBB-ADCC93F4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FF35D-7B95-4E56-8DE2-9452AA3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66875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Camino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6015F-2E98-4311-A103-F11A3998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4672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T_DH(q): producto de las seis matrices Denavit-Hartenberg.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9D55C-AEF1-4FF1-9345-2B54F5ED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910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CE756-925E-4B49-BE9C-8A444C4D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B54EB-E0A1-4537-BA49-641A2DF5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4448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Camino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37625-3F74-4CFD-A63B-BA851CA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66925"/>
            <a:ext cx="4448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T_URDF(q): origins del XML seguidos por Rz(q_i).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B592F-5E4C-4167-B597-1417440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981200"/>
            <a:ext cx="11239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D50D6-9FC4-4232-BA9B-A71CBB76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comparar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E0C54-FB57-460A-9730-4C508D3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Error de posicion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D449C-2B04-40BB-99E9-94EDA04F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e_p = || p_DH - p_URDF ||_2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64DC8-0B03-42CC-9124-49706682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Error de orientacion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35155-9F4E-4D5F-A076-3F93CA8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80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R_rel = R_DH^T R_URDF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e_R = angulo(R_rel)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0A916-444F-402D-B095-7443EED8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Tolerancia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77C4E-6CFE-470E-9E20-5FA543DD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1e-6 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169B1-9EEF-44DA-A5F5-EDF5EC2A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Maximo medido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92689-C79C-40F6-BDBE-E68D2112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1.12e-16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8919D-D6DB-4EB0-9050-4060B1E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4A8FF-6716-4B32-8D28-C5438EC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APROBADO</a:t>
            </a:r>
          </a:p>
        </p:txBody>
      </p:sp>
    </p:spTree>
    <p:extLst>
      <p:ext uri="{BB962C8B-B14F-4D97-AF65-F5344CB8AC3E}">
        <p14:creationId xmlns:p14="http://schemas.microsoft.com/office/powerpoint/2010/main" val="757597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FD586-33C4-437F-943C-BDDAB8A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4A405-501C-42A8-A02D-2E2F7EB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98FF-79A9-4BC4-8C5D-8C35ECE2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DOS PRUEBAS JUSTIFICADAS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E41D1-B65F-4436-B038-10DAE206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Prueba A: postura de trabajo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8BECB-1B7C-497D-BECB-EC6245B1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777CE-60F0-4A77-B6CB-E430CF96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3DC15-50C9-492A-85E2-DE5D1374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2A1D2-5FE2-4107-9884-F96721CA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q = [30, -20, 15, 40, -35, 60] grados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09B01-8ECF-47ED-AFD0-A8865971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5143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A03D4-61A7-4BDF-A32C-D12D09B2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34173-FE99-43E4-97EE-71CFF3D0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Por que se eligio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1566D-E03D-4067-BD05-E86EBF5D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48006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Las seis juntas son distintas de cero.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Evita la simetria de la postura cero.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Ejercita signos y offsets.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Representa aproximacion elevada de trabajo.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5D611-4847-4109-87CB-FC1554CF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6959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5B772-6B82-4E43-B20D-02B6E62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BEC0F-0AEC-475A-B23C-5969B9B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A750D-9C47-4B53-A953-3E44C1A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76550"/>
            <a:ext cx="5353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p = [0.237055, 0.106212, 0.676427]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Distancia radial = 0.259762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e_p = 1.118863e-16 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e_R = 4.209341e-16 rad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1AC94-057D-47F7-B2F0-7F30675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Esta pose comprueba una configuracion general, no una coincidencia accidental en q = 0.</a:t>
            </a:r>
          </a:p>
        </p:txBody>
      </p:sp>
    </p:spTree>
    <p:extLst>
      <p:ext uri="{BB962C8B-B14F-4D97-AF65-F5344CB8AC3E}">
        <p14:creationId xmlns:p14="http://schemas.microsoft.com/office/powerpoint/2010/main" val="823286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63606-D781-4FF5-AB9E-F4A5214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0DF7-08A7-4FF5-A9FE-A3358A1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7B7C4-0BAF-4664-9BAC-11DD48D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DOS PRUEBAS JUSTIFICADAS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3492B-2A61-45DF-BBB6-40AD505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Prueba B: postura plegada critica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74327-3B80-43E9-94F4-1296123B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FCEE1-7D87-412A-A3CE-C494A27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7CBA-A059-4203-9084-D575857A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CAA19-D9F4-4456-A6AC-E7B7C586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q = [90, -60, 60, 90, 60, 180] grados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3AE17-E5D8-4435-81EB-C557FEE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5143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54A4A-56E5-4D4C-A484-625179C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59F2D-FC21-4AE3-8126-6323D594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Por que se eligio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387F9-01C1-4133-868C-0EA914F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48006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Pliega la cadena cerca del eje de la base.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Es sensible a signos y offsets.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Explora una region de riesgo geometrico.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Todas las juntas participan.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02949-182F-4528-86A3-9C2F4D2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6959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28836-EB0D-4F11-9DE4-89BEB62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E3605-5AFF-4C7B-AB62-7F309062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6C1FA-0C06-4438-BBBF-A7EBCBDA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76550"/>
            <a:ext cx="5353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p = [-0.062354, 0.104173, 0.495000]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Distancia radial = 0.121409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e_p = 1.022163e-16 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e_R = 1.605583e-16 rad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5EEA4-3140-4061-A73E-BC24E185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10191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7B7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43A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B43A3A"/>
                </a:solidFill>
                <a:latin typeface="Liberation Sans"/>
                <a:ea typeface="Liberation Sans"/>
                <a:cs typeface="Liberation Sans"/>
              </a:rPr>
              <a:t>No afirmamos colision certificada: sin geometria collision validada, esta es una prueba cinematica en una region critica.</a:t>
            </a:r>
          </a:p>
        </p:txBody>
      </p:sp>
    </p:spTree>
    <p:extLst>
      <p:ext uri="{BB962C8B-B14F-4D97-AF65-F5344CB8AC3E}">
        <p14:creationId xmlns:p14="http://schemas.microsoft.com/office/powerpoint/2010/main" val="1549553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D59B9-9F3A-4F9D-8253-0D89A8E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1648E-2BEB-4450-8EBF-322F777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89C0D-A92B-4D99-BF1E-53A80F2D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F5763-D16F-4384-B324-7F850A42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Evidencia verificable del Hito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E4477-54D0-43E8-BD18-0F372E1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14ADF-3FA8-4A9B-BB7D-0320272C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E891D-56B0-46F2-BBD5-DDC89D3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2809875"/>
              </a:tblGrid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Comprobacion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Resultado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Juntas revolutas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Juntas fijas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Links totales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 (incluye base_link)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inertial / collision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/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Pruebas automatizadas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 aprobadas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Error maximo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1.118863e-16 m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Tolerancia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1.0e-6 m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32AC-263A-45F1-BBF2-79B8EB39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Comandos para mostrar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35E81-0117-4AFE-81CC-5EBDE6FD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000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63B55"/>
            </a:solidFill>
            <a:prstDash val="solid"/>
          </a:ln>
        </p:spPr>
        <p:txBody>
          <a:bodyPr xmlns:a="http://schemas.openxmlformats.org/drawingml/2006/main" wrap="square" lIns="190500" tIns="20955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run irb120_hito1 verify_model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colcon test --packages-select irb120_hito1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colcon test-result --verbose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check_urdf /tmp/irb120.urdf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32FB8-5E1B-439F-9088-1D21E9F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40957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Esperado: APROBADO | 12 tests | arbol serial de 6 joints</a:t>
            </a:r>
          </a:p>
        </p:txBody>
      </p:sp>
    </p:spTree>
    <p:extLst>
      <p:ext uri="{BB962C8B-B14F-4D97-AF65-F5344CB8AC3E}">
        <p14:creationId xmlns:p14="http://schemas.microsoft.com/office/powerpoint/2010/main" val="1178497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C0C51-1D53-46B6-BDAC-BF7DD33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6DB9C-B491-40D0-85D2-531B7A1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DEMOSTRACION EN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8C8AB-354C-4AF9-8963-3E2CE0B2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Seis pasos para cerrar la defensa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FB8E9-AB3C-40D0-A18C-303E54B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E61CC-E04E-4F94-A6FB-932F82F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6818-36D9-4921-9530-BD88B57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Cargar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B2840-679B-4579-A461-CB08A1C1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source ROS y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73C86-B300-427A-90DA-EC87757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6CA0-4F93-4B55-AC39-4579D8C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F3B45-8B20-408A-A54B-15B28754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Validar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3D8BE-13A9-41DD-9AD6-5321ACE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verify_model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2BF2D-2E03-4253-8826-AEDCB93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5FECF-016A-404A-AB16-6727D55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9E400-827A-4C56-AD0C-ADB8CE80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59259-22A4-4977-A3E5-71A0551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12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541C4-E868-42AF-B32E-37A2295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8AAC6-E1E9-43EB-9259-83B1CC95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293C5-B9D6-4E91-BF3E-95E60FE7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Abrir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80CBD-F72A-42F6-9406-F291E4EE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RViz + sliders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8B7BC-D4B4-4C24-8012-728F8AE7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65FF0-D6DC-405F-9E40-CA5E0126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A2C02-3890-4B4C-8875-54467E91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DD70A-8D79-4B8D-B3D9-B9E2836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joint_1 a joint_6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561B9-958A-4F9F-9BE4-092BB02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B429B-3D48-4944-AB42-986098E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069A9-08CE-4908-89F8-312B1FE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Explicar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42091-1A6E-4247-BD24-49F1B66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DH, error y poses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72BE2-C190-4BE4-8BE8-940F4C2A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34000"/>
            <a:ext cx="7143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Hito 1 completado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C6EEE-3E97-4E1C-87B7-B36EEF5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96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Pendiente futuro: CAD por eslabon, colisiones, dinamica y control</a:t>
            </a:r>
          </a:p>
        </p:txBody>
      </p:sp>
    </p:spTree>
    <p:extLst>
      <p:ext uri="{BB962C8B-B14F-4D97-AF65-F5344CB8AC3E}">
        <p14:creationId xmlns:p14="http://schemas.microsoft.com/office/powerpoint/2010/main" val="207090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2026-09-11T23:30:47.2470000Z</dcterms:created>
  <dcterms:modified xsi:type="dcterms:W3CDTF">2026-09-11T23:30:47.2470000Z</dcterms:modified>
</coreProperties>
</file>