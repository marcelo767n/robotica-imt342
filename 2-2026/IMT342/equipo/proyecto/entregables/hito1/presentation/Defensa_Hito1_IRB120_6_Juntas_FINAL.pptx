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f5a775e14a4998" /><Relationship Type="http://schemas.openxmlformats.org/officeDocument/2006/relationships/extended-properties" Target="/docProps/app.xml" Id="R502674d18b1d436c" /><Relationship Type="http://schemas.openxmlformats.org/officeDocument/2006/relationships/officeDocument" Target="/ppt/presentation.xml" Id="R36dd2795f2f04a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b119d7740042b4"/>
  </p:sldMasterIdLst>
  <p:notesMasterIdLst>
    <p:notesMasterId xmlns:r="http://schemas.openxmlformats.org/officeDocument/2006/relationships" r:id="Ra34fac20e9d94914"/>
  </p:notesMasterIdLst>
  <p:sldIdLst>
    <p:sldId xmlns:r="http://schemas.openxmlformats.org/officeDocument/2006/relationships" id="256" r:id="R30b38fa60ba54f77"/>
    <p:sldId xmlns:r="http://schemas.openxmlformats.org/officeDocument/2006/relationships" id="257" r:id="Rf355b76d2e3149e2"/>
    <p:sldId xmlns:r="http://schemas.openxmlformats.org/officeDocument/2006/relationships" id="258" r:id="R7dd01ccd22674b77"/>
    <p:sldId xmlns:r="http://schemas.openxmlformats.org/officeDocument/2006/relationships" id="259" r:id="Rd9ff874614f44178"/>
    <p:sldId xmlns:r="http://schemas.openxmlformats.org/officeDocument/2006/relationships" id="260" r:id="R2e2c9adde84644be"/>
    <p:sldId xmlns:r="http://schemas.openxmlformats.org/officeDocument/2006/relationships" id="261" r:id="R18e8cd6eb877409a"/>
    <p:sldId xmlns:r="http://schemas.openxmlformats.org/officeDocument/2006/relationships" id="262" r:id="Rb08681a90c4a4cf4"/>
    <p:sldId xmlns:r="http://schemas.openxmlformats.org/officeDocument/2006/relationships" id="263" r:id="R9a6df4b13c6b42c1"/>
    <p:sldId xmlns:r="http://schemas.openxmlformats.org/officeDocument/2006/relationships" id="264" r:id="R17906d7b15dc4f0a"/>
    <p:sldId xmlns:r="http://schemas.openxmlformats.org/officeDocument/2006/relationships" id="265" r:id="R82e4c0a15d2346c0"/>
    <p:sldId xmlns:r="http://schemas.openxmlformats.org/officeDocument/2006/relationships" id="266" r:id="R301c9a382c6e4f85"/>
    <p:sldId xmlns:r="http://schemas.openxmlformats.org/officeDocument/2006/relationships" id="267" r:id="R00beaedea1374178"/>
    <p:sldId xmlns:r="http://schemas.openxmlformats.org/officeDocument/2006/relationships" id="268" r:id="R228cb69aba5c40d1"/>
    <p:sldId xmlns:r="http://schemas.openxmlformats.org/officeDocument/2006/relationships" id="269" r:id="Ra79d3f88537b4c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77dd4cb50f4187" /><Relationship Type="http://schemas.openxmlformats.org/officeDocument/2006/relationships/slideMaster" Target="/ppt/slideMasters/slideMaster1.xml" Id="R62b119d7740042b4" /><Relationship Type="http://schemas.openxmlformats.org/officeDocument/2006/relationships/notesMaster" Target="/ppt/notesMasters/notesMaster1.xml" Id="Ra34fac20e9d94914" /><Relationship Type="http://schemas.openxmlformats.org/officeDocument/2006/relationships/presProps" Target="/ppt/presProps.xml" Id="Rfef45b9efcbb44c0" /><Relationship Type="http://schemas.openxmlformats.org/officeDocument/2006/relationships/tableStyles" Target="/ppt/tableStyles.xml" Id="Rde4ff1a214cd4422" /><Relationship Type="http://schemas.openxmlformats.org/officeDocument/2006/relationships/slide" Target="/ppt/slides/slide1.xml" Id="R30b38fa60ba54f77" /><Relationship Type="http://schemas.openxmlformats.org/officeDocument/2006/relationships/slide" Target="/ppt/slides/slide2.xml" Id="Rf355b76d2e3149e2" /><Relationship Type="http://schemas.openxmlformats.org/officeDocument/2006/relationships/slide" Target="/ppt/slides/slide3.xml" Id="R7dd01ccd22674b77" /><Relationship Type="http://schemas.openxmlformats.org/officeDocument/2006/relationships/slide" Target="/ppt/slides/slide4.xml" Id="Rd9ff874614f44178" /><Relationship Type="http://schemas.openxmlformats.org/officeDocument/2006/relationships/slide" Target="/ppt/slides/slide5.xml" Id="R2e2c9adde84644be" /><Relationship Type="http://schemas.openxmlformats.org/officeDocument/2006/relationships/slide" Target="/ppt/slides/slide6.xml" Id="R18e8cd6eb877409a" /><Relationship Type="http://schemas.openxmlformats.org/officeDocument/2006/relationships/slide" Target="/ppt/slides/slide7.xml" Id="Rb08681a90c4a4cf4" /><Relationship Type="http://schemas.openxmlformats.org/officeDocument/2006/relationships/slide" Target="/ppt/slides/slide8.xml" Id="R9a6df4b13c6b42c1" /><Relationship Type="http://schemas.openxmlformats.org/officeDocument/2006/relationships/slide" Target="/ppt/slides/slide9.xml" Id="R17906d7b15dc4f0a" /><Relationship Type="http://schemas.openxmlformats.org/officeDocument/2006/relationships/slide" Target="/ppt/slides/slide10.xml" Id="R82e4c0a15d2346c0" /><Relationship Type="http://schemas.openxmlformats.org/officeDocument/2006/relationships/slide" Target="/ppt/slides/slide11.xml" Id="R301c9a382c6e4f85" /><Relationship Type="http://schemas.openxmlformats.org/officeDocument/2006/relationships/slide" Target="/ppt/slides/slide12.xml" Id="R00beaedea1374178" /><Relationship Type="http://schemas.openxmlformats.org/officeDocument/2006/relationships/slide" Target="/ppt/slides/slide13.xml" Id="R228cb69aba5c40d1" /><Relationship Type="http://schemas.openxmlformats.org/officeDocument/2006/relationships/slide" Target="/ppt/slides/slide14.xml" Id="Ra79d3f88537b4c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d5855c5c2e47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a50814fd424565" /><Relationship Type="http://schemas.openxmlformats.org/officeDocument/2006/relationships/notesMaster" Target="/ppt/notesMasters/notesMaster1.xml" Id="Re75633491dca4e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d10ba03e354c62" /><Relationship Type="http://schemas.openxmlformats.org/officeDocument/2006/relationships/notesMaster" Target="/ppt/notesMasters/notesMaster1.xml" Id="R68b7711577ef49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4c893bd9424cf5" /><Relationship Type="http://schemas.openxmlformats.org/officeDocument/2006/relationships/notesMaster" Target="/ppt/notesMasters/notesMaster1.xml" Id="Re31933ea083044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66fe3466d34ebb" /><Relationship Type="http://schemas.openxmlformats.org/officeDocument/2006/relationships/notesMaster" Target="/ppt/notesMasters/notesMaster1.xml" Id="R4aabec521e184b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a3635fc9674663" /><Relationship Type="http://schemas.openxmlformats.org/officeDocument/2006/relationships/notesMaster" Target="/ppt/notesMasters/notesMaster1.xml" Id="R26700dfb56a54e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ad7b733b8c4aa1" /><Relationship Type="http://schemas.openxmlformats.org/officeDocument/2006/relationships/notesMaster" Target="/ppt/notesMasters/notesMaster1.xml" Id="R9acc18f98b5c4a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37f013bea14491" /><Relationship Type="http://schemas.openxmlformats.org/officeDocument/2006/relationships/notesMaster" Target="/ppt/notesMasters/notesMaster1.xml" Id="R55d8e7f11db24a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5206f733364c29" /><Relationship Type="http://schemas.openxmlformats.org/officeDocument/2006/relationships/notesMaster" Target="/ppt/notesMasters/notesMaster1.xml" Id="R3cdab4c4e04b4f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421d78825a4048" /><Relationship Type="http://schemas.openxmlformats.org/officeDocument/2006/relationships/notesMaster" Target="/ppt/notesMasters/notesMaster1.xml" Id="Rcb538bc55d7248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474a51b0914d07" /><Relationship Type="http://schemas.openxmlformats.org/officeDocument/2006/relationships/notesMaster" Target="/ppt/notesMasters/notesMaster1.xml" Id="Rf2bdbba4fd3b4c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252c455f204d3b" /><Relationship Type="http://schemas.openxmlformats.org/officeDocument/2006/relationships/notesMaster" Target="/ppt/notesMasters/notesMaster1.xml" Id="R628d39ce09d847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46a6950444417b" /><Relationship Type="http://schemas.openxmlformats.org/officeDocument/2006/relationships/notesMaster" Target="/ppt/notesMasters/notesMaster1.xml" Id="Racb23af46de64a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e1b04fcf334fe3" /><Relationship Type="http://schemas.openxmlformats.org/officeDocument/2006/relationships/notesMaster" Target="/ppt/notesMasters/notesMaster1.xml" Id="Rfd86c761b8a844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cdbf3ce1cd4251" /><Relationship Type="http://schemas.openxmlformats.org/officeDocument/2006/relationships/notesMaster" Target="/ppt/notesMasters/notesMaster1.xml" Id="Re349b695a63944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implementacion local del paquete irb120_hito1 y resultados de sus pruebas automatizadas.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basado en la Guia PFI y el worksheet de validacion entregados por el estudiante.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Arquitectura derivada de launch/display.launch.py y de los nodos del paquete irb120_hito1.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estructura actual del repositorio, carpeta ros2_ws/src/irb120_hito1.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tabla DH usada por kinematics/dh.py y documentada en docs/hito1/modelo_cinematico.md.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Derivacion completa: docs/hito1/modelo_cinematico.md. La equivalencia se comprueba contra la cadena URDF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origins definidos en urdf/irb120.macro.xacro y validados en test/test_kinematics.py.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Estructura comprobada con check_urdf y con test_model_has_exact_six_joint_serial_tree.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geometria visual provisional no altera los frames. La fisica queda fuera del alcance de este Hito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Formula implementada en kinematics/urdf_chain.py y mostrada por verify_model.py. El valor observado es error de redondeo numerico.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Resultados generados por ros2 run irb120_hito1 verify_model.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RViz no detecta colisiones. Para una prueba formal se necesitan mallas collision y MoveIt 2 o un simulador apropiado.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Resultados obtenidos localmente con colcon test y ros2 run irb120_hito1 verify_model.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Antes de empezar, cerrar cualquier launch antiguo con Ctrl+C para no visualizar el modelo anterior.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ff4791563547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4d37db799249a8" /><Relationship Type="http://schemas.openxmlformats.org/officeDocument/2006/relationships/slideLayout" Target="/ppt/slideLayouts/slideLayout1.xml" Id="Rce260de85eff42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260de85eff42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5f4b0ae7e44c5" /><Relationship Type="http://schemas.openxmlformats.org/officeDocument/2006/relationships/notesSlide" Target="/ppt/notesSlides/notesSlide1.xml" Id="R4713e8f5826a45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5268fbc204e83" /><Relationship Type="http://schemas.openxmlformats.org/officeDocument/2006/relationships/notesSlide" Target="/ppt/notesSlides/notesSlide2.xml" Id="R5f252d1d6a4443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2a5a8f8994ee5" /><Relationship Type="http://schemas.openxmlformats.org/officeDocument/2006/relationships/notesSlide" Target="/ppt/notesSlides/notesSlide3.xml" Id="R54d9c495e5f64b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d39207c97452b" /><Relationship Type="http://schemas.openxmlformats.org/officeDocument/2006/relationships/notesSlide" Target="/ppt/notesSlides/notesSlide4.xml" Id="Rcaa31e84e68f4c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3e267b9ad4d8a" /><Relationship Type="http://schemas.openxmlformats.org/officeDocument/2006/relationships/notesSlide" Target="/ppt/notesSlides/notesSlide5.xml" Id="Re293c04865b64a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43cbb854649e1" /><Relationship Type="http://schemas.openxmlformats.org/officeDocument/2006/relationships/notesSlide" Target="/ppt/notesSlides/notesSlide6.xml" Id="R93861e33d52f4a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9950940e04c13" /><Relationship Type="http://schemas.openxmlformats.org/officeDocument/2006/relationships/notesSlide" Target="/ppt/notesSlides/notesSlide7.xml" Id="R18b6166d1cab41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9593a62534f36" /><Relationship Type="http://schemas.openxmlformats.org/officeDocument/2006/relationships/notesSlide" Target="/ppt/notesSlides/notesSlide8.xml" Id="R37a2c2b1cc954a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11421346c4365" /><Relationship Type="http://schemas.openxmlformats.org/officeDocument/2006/relationships/notesSlide" Target="/ppt/notesSlides/notesSlide9.xml" Id="Rc6471482d1784b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e187a4ee842f7" /><Relationship Type="http://schemas.openxmlformats.org/officeDocument/2006/relationships/notesSlide" Target="/ppt/notesSlides/notesSlide10.xml" Id="Ra2f3446ae88b46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f946fa91344c6" /><Relationship Type="http://schemas.openxmlformats.org/officeDocument/2006/relationships/notesSlide" Target="/ppt/notesSlides/notesSlide11.xml" Id="Rfbb3cf067ef946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059ec651841cd" /><Relationship Type="http://schemas.openxmlformats.org/officeDocument/2006/relationships/notesSlide" Target="/ppt/notesSlides/notesSlide12.xml" Id="Rd6375fb7abcf4c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7888ee2e4425f" /><Relationship Type="http://schemas.openxmlformats.org/officeDocument/2006/relationships/notesSlide" Target="/ppt/notesSlides/notesSlide13.xml" Id="Radd3b73c5bb04a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a26911a2e4df7" /><Relationship Type="http://schemas.openxmlformats.org/officeDocument/2006/relationships/notesSlide" Target="/ppt/notesSlides/notesSlide14.xml" Id="R20c6b4779cb441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C4902-5F7D-4427-A2FF-6DB78E9D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921E9-078E-48D4-8800-C2711858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71450" cy="668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1B5CC-8129-4B51-A3AF-22DDFD41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IMT-342 | PROYECTO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0D157-BDB9-44F8-B4C8-78980E06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685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ABB IRB 120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en ROS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F7751-DBFC-4A58-8E6E-2BEFDC15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695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DCE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DCE5EF"/>
                </a:solidFill>
                <a:latin typeface="Liberation Sans"/>
                <a:ea typeface="Liberation Sans"/>
                <a:cs typeface="Liberation Sans"/>
              </a:rPr>
              <a:t>Hito 1 corregido: seis juntas, conversion DH a URDF y validacion numerica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0A2C4-F640-427D-9D00-C8209D89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95375"/>
            <a:ext cx="3238500" cy="3714750"/>
          </a:xfrm>
          <a:prstGeom xmlns:a="http://schemas.openxmlformats.org/drawingml/2006/main" prst="roundRect">
            <a:avLst>
              <a:gd name="adj" fmla="val 6471"/>
            </a:avLst>
          </a:prstGeom>
          <a:solidFill xmlns:a="http://schemas.openxmlformats.org/drawingml/2006/main">
            <a:srgbClr val="1B304B"/>
          </a:solidFill>
          <a:ln xmlns:a="http://schemas.openxmlformats.org/drawingml/2006/main" w="9525">
            <a:solidFill>
              <a:srgbClr val="2B46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8D86C-9B5C-49DD-A46B-B738DDA3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228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932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7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7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0D597-7580-407A-A239-6171C8E8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juntas revolutas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6 marcos moviles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 juntas fijas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34A63-88A2-4146-AA18-929802D8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BFE9D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BFE9DD"/>
                </a:solidFill>
                <a:latin typeface="Liberation Sans"/>
                <a:ea typeface="Liberation Sans"/>
                <a:cs typeface="Liberation Sans"/>
              </a:rPr>
              <a:t>12 pruebas aprobadas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BFE9D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BFE9DD"/>
                </a:solidFill>
                <a:latin typeface="Liberation Sans"/>
                <a:ea typeface="Liberation Sans"/>
                <a:cs typeface="Liberation Sans"/>
              </a:rPr>
              <a:t>error max. 1.12e-16 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C7784-D35E-4335-8DFF-9242885F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579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FC0D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AFC0D4"/>
                </a:solidFill>
                <a:latin typeface="Liberation Sans"/>
                <a:ea typeface="Liberation Sans"/>
                <a:cs typeface="Liberation Sans"/>
              </a:rPr>
              <a:t>Modelo cinematico defendible | Version para examen</a:t>
            </a:r>
          </a:p>
        </p:txBody>
      </p:sp>
    </p:spTree>
    <p:extLst>
      <p:ext uri="{BB962C8B-B14F-4D97-AF65-F5344CB8AC3E}">
        <p14:creationId xmlns:p14="http://schemas.microsoft.com/office/powerpoint/2010/main" val="18824773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5DB25E-7737-4272-A262-08C3C483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FBA06-A760-47BA-99B4-D9C25714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6A70A-D78D-4D07-959F-07B3373A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MODELO CORREGIDO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951EA-8590-4CD6-B8BD-559B92FC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Que se corrigio y que entrega el Hito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49186-226C-47B9-B358-68CC546C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58AF7-2E4D-4F87-8CC1-34465D0D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AE9DC-93D4-4FAE-A09A-6B0A9747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FF0A4-B696-49B5-A79D-0EDD1E5E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5286375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77591-A2AB-4DF4-BCBD-E70D49A1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76200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25B3D-E344-45F9-84EA-2D30A0F8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19250"/>
            <a:ext cx="494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Arbol minimo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D992F-5D2A-49C0-884A-8EC6D04D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19300"/>
            <a:ext cx="49434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base_link como raiz y seis transformaciones variables. No existen theta_frame, dh_frame ni joints fijos.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54252-BA2C-42AA-BADF-B77CA41D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5553075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D4180-C45A-4F45-9CA5-BEFEF927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76200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91F6E-C436-4655-A352-09A3CAA1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19250"/>
            <a:ext cx="521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Cinematica demostrada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E712A2-A145-43D6-A6F8-5B99C98F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19300"/>
            <a:ext cx="52101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La tabla DH clasica y la cadena URDF producen la misma posicion y orientacion para las configuraciones probadas.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B87D05-9B91-4341-832B-147505F3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5286375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5CA30-9971-4A54-A0E4-763F2D8B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76200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159681-020B-4202-99B9-A979AF3E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57625"/>
            <a:ext cx="494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Sin fisica inventada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07CE35-8652-4D1B-AC3F-4A8C72F8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57675"/>
            <a:ext cx="49434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Se eliminaron inertial y collision porque aun no existe CAD validado ni simulacion dinamica en el alcance.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F72981-D648-466E-8A34-24D98FE4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5553075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E826A-DE6C-4418-8E76-0AE4B0D9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76200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071E20-378C-49C4-867B-5A0B55C4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57625"/>
            <a:ext cx="521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Demostracion sencilla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24882D-BE9B-4D81-B15F-259C077D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57675"/>
            <a:ext cx="52101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RViz muestra el brazo y una interfaz ofrece una barra por cada una de las seis juntas.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5B46EF-1839-4182-950C-D9446D45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11125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B9DDE2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894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rPr>
              <a:t>CAD pendiente: no bloquea la evaluacion cinematica del Hito 1.</a:t>
            </a:r>
          </a:p>
        </p:txBody>
      </p:sp>
    </p:spTree>
    <p:extLst>
      <p:ext uri="{BB962C8B-B14F-4D97-AF65-F5344CB8AC3E}">
        <p14:creationId xmlns:p14="http://schemas.microsoft.com/office/powerpoint/2010/main" val="20458928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C925CA-F60A-4B66-B87A-035D096A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9DC2A-E668-4D25-A7E8-6C2D2743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47DE1-473C-4E63-82CA-C890026E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ARQUITECTURA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DCC03-2E44-4BF5-A072-2A20914D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Como fluye la informacion en ROS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3D1C5-E547-446C-B23F-9A379F5C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EA87D-2AD4-4906-9E6B-FADDD192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ED3C0-C4FA-42ED-AADC-321CF351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DA6E5-0AD5-45F1-A7C4-132476F5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66950"/>
            <a:ext cx="1809750" cy="12858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0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E9722-F809-4423-B1BF-91D91184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6 deslizadores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53D75-B0DE-41DF-805F-60B07421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q1 ... q6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DE3EE-5BFD-4211-98DB-F78BDE6C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07EDC-E4DB-4D9B-AD59-5EDCA460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66950"/>
            <a:ext cx="1952625" cy="12858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0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3A991-9B9C-424F-86B8-74DB2D08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38400"/>
            <a:ext cx="1724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948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joint_state_source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0DA0C-BCAB-4791-B638-BCCB4C64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5275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/joint_states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CF47C-CD44-4929-A58F-E90A38C4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146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23B03-030E-47FB-AA34-B616132B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66950"/>
            <a:ext cx="1952625" cy="12858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0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7EA20-3638-4B97-8BE2-CEF2A0B5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438400"/>
            <a:ext cx="1724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938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robot_state_publisher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76644-8D7A-4E0F-AEDE-79DA167E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952750"/>
            <a:ext cx="1724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URDF + 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B4685-8640-48F8-9A07-A8907FC3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F73CC-F2C3-433D-855B-FC1294D4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1762125" cy="12858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0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480E18-1FE5-4F00-9D79-C5E36E35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38400"/>
            <a:ext cx="1533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TF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A8F01E-431B-4EA3-8B65-EEC8833A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52750"/>
            <a:ext cx="1533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transformaciones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CE67B-1F86-4139-A13A-4522C1E9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146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4FC7E5-B071-4AD5-A52E-13B30E5D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66950"/>
            <a:ext cx="1809750" cy="12858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6F7"/>
          </a:solidFill>
          <a:ln xmlns:a="http://schemas.openxmlformats.org/drawingml/2006/main" w="14288">
            <a:solidFill>
              <a:srgbClr val="167D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0AA098-1D9F-4FA9-A59D-38052601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4384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RViz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881E12-C101-43D6-92A3-CC46BE02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9527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RobotModel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8AF1FD-1C8C-4BD5-80DA-29AEDBBD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95750"/>
            <a:ext cx="1952625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F28C2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8AE1D2-CDD8-49C6-A76A-BE92DDEE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38625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fk_validator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BAE6E7-70B2-43AD-9D17-F8FFF969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815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compara DH vs URDF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F1A4CB-4CD9-4422-896B-C306AF6E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768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rPr>
              <a:t>El validador observa la misma cadena que ve RViz y publica APROBADO mientras el brazo se mueve.</a:t>
            </a:r>
          </a:p>
        </p:txBody>
      </p:sp>
    </p:spTree>
    <p:extLst>
      <p:ext uri="{BB962C8B-B14F-4D97-AF65-F5344CB8AC3E}">
        <p14:creationId xmlns:p14="http://schemas.microsoft.com/office/powerpoint/2010/main" val="1099205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192D5-2FFB-45EC-9137-8843AEB0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49ADA-4D71-49A6-B9E7-AE07DC32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E88B0-F982-4E27-B11B-946094B5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ORGANIZACION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92A7A-E91F-487C-9D11-DAC49CDC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Paquete modular y archivos que quedaron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DB7AF-F1A8-410D-A525-D42580FB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8B6DE-276C-4A45-9B79-ABBBC246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B5356-D5BB-49D5-ABD1-156EED1B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4EFB0-C3C4-49A1-90DB-9752DB41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55245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8577E-2CCF-4E6B-901C-E71FC43D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4857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irb120_hito1/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urdf/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  irb120.macro.xacro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  irb120.urdf.xacro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  irb120.urdf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launch/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  display.launch.py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config/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  irb120.rviz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irb120_hito1/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  kinematics/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  slider_gui.py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  joint_state_source.py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  fk_validator.py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  verify_model.py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200" b="0">
                <a:solidFill>
                  <a:srgbClr val="E8EEF5"/>
                </a:solidFill>
                <a:latin typeface="Liberation Mono"/>
                <a:ea typeface="Liberation Mono"/>
                <a:cs typeface="Liberation Mono"/>
              </a:rPr>
              <a:t>  test/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7DE67-96BC-4786-9C90-6BCF1CC5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52197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8F1A6-B444-471D-974C-314338F4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3A3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0B5DF-EEEA-4E63-A5B5-2EEFBE36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619250"/>
            <a:ext cx="487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Eliminado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79A2F-3B7C-4E02-90A1-70619438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019300"/>
            <a:ext cx="487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gripper.macro.xacro y la junta de pinza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4686D-CFD8-4D0A-8745-10C3C82D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05125"/>
            <a:ext cx="52197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5A99F-85B4-4075-AF8A-A4AED791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05125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3A3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8F913-B37F-4AA7-9022-73F5278A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048000"/>
            <a:ext cx="487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Eliminado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5DF9C-8829-4D43-B49E-027FC3FB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48050"/>
            <a:ext cx="487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theta_*_frame, dh_*_frame y joints fijos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987F1-5F5D-4F73-A66F-52464EF6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33875"/>
            <a:ext cx="52197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45F0C-E882-420B-B86B-86D22956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3387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D4D198-17C8-4765-916C-59A4D918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76750"/>
            <a:ext cx="487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Separacion clara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0B888E-46AF-4262-A992-8633A53D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876800"/>
            <a:ext cx="4876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URDF describe la cadena; kinematics calcula; los nodos ROS publican y validan; test comprueba la estructura.</a:t>
            </a:r>
          </a:p>
        </p:txBody>
      </p:sp>
    </p:spTree>
    <p:extLst>
      <p:ext uri="{BB962C8B-B14F-4D97-AF65-F5344CB8AC3E}">
        <p14:creationId xmlns:p14="http://schemas.microsoft.com/office/powerpoint/2010/main" val="946853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7EA30-E445-4FA8-BF4A-AFC90B84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570B5-FF5A-471E-9A04-65B506B9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55AB2-EB79-4071-A4F5-913A32F2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MODELO MATEMATICO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44901-68AA-4BDF-BD57-85A33745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Tabla Denavit-Hartenberg clasica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537DB-1B30-49D4-BCBD-0148D896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C1BD7-EDF3-46A5-83FE-4498E0F1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EDBBB-65EA-4143-B161-FC10B897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BB4D0-6801-45A6-B63C-6BC21802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52550"/>
            <a:ext cx="111252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B9DDE2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67D8D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00" b="1">
                <a:solidFill>
                  <a:srgbClr val="167D8D"/>
                </a:solidFill>
                <a:latin typeface="Liberation Mono"/>
                <a:ea typeface="Liberation Mono"/>
                <a:cs typeface="Liberation Mono"/>
              </a:rPr>
              <a:t>A_i = Rz(theta_i) Tz(d_i) Tx(a_i) Rx(alpha_i)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1047750" y="2095500"/>
          <a:ext xmlns:a="http://schemas.openxmlformats.org/drawingml/2006/main" cx="10096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762250"/>
                <a:gridCol w="2000250"/>
                <a:gridCol w="2000250"/>
                <a:gridCol w="2286000"/>
              </a:tblGrid>
              <a:tr h="449036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theta_i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d_i [m]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a_i [m]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alpha_i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</a:tr>
              <a:tr h="449036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0.290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-pi/2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  <a:tr h="449036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q2 - pi/2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0.270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</a:tr>
              <a:tr h="449036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q3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0.070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-pi/2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  <a:tr h="449036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q4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0.302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+pi/2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</a:tr>
              <a:tr h="449036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q5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-pi/2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  <a:tr h="449036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q6 + pi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0.072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2A81A-DB4A-419E-A1D3-49446852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Unidades: metros y radianes. Cada q_i es el angulo variable de una junta.</a:t>
            </a:r>
          </a:p>
        </p:txBody>
      </p:sp>
    </p:spTree>
    <p:extLst>
      <p:ext uri="{BB962C8B-B14F-4D97-AF65-F5344CB8AC3E}">
        <p14:creationId xmlns:p14="http://schemas.microsoft.com/office/powerpoint/2010/main" val="1225992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5DD4A-96A3-4B01-B91B-1C6FC2EF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47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33555-6BBE-4463-A9D1-27701632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0"/>
            <a:ext cx="10144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B62D7-BF3F-48CE-9F43-E6ED4B1C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CONVERSION CLAVE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287BF-A209-464B-BEF4-1AA17D9E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DH no se copia fila por fila en origin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9F33F-99C7-47A9-95FE-D2867FFA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En DH clasico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0AD78-B51D-4BFD-8957-9DEB6BDD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3476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B304B"/>
          </a:solidFill>
          <a:ln xmlns:a="http://schemas.openxmlformats.org/drawingml/2006/main" w="9525">
            <a:solidFill>
              <a:srgbClr val="38516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1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A_i(q_i) = Rz(q_i) B_i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8C625-2CEE-4F00-8598-6D427D81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9525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58138-D890-469F-A5CE-38E298FE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14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En URDF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9DB26-0582-4132-A280-F57A98E2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90750"/>
            <a:ext cx="357187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B304B"/>
          </a:solidFill>
          <a:ln xmlns:a="http://schemas.openxmlformats.org/drawingml/2006/main" w="9525">
            <a:solidFill>
              <a:srgbClr val="38516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1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T_i(q_i) = O_i Rz(q_i)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C7BCC-57AE-4D65-A9B8-A549586E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9525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1A7C9-9EDB-424F-8EC8-FAAF6AED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114550"/>
            <a:ext cx="147637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Mover B_i 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origin siguiente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0A6B2-489E-41C5-8357-0B0078D9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81375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0">
                <a:solidFill>
                  <a:srgbClr val="C9D6E5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C9D6E5"/>
                </a:solidFill>
                <a:latin typeface="Liberation Mono"/>
                <a:ea typeface="Liberation Mono"/>
                <a:cs typeface="Liberation Mono"/>
              </a:rPr>
              <a:t>B_i = Tz(d_i) Tx(a_i) Rx(alpha_i)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D1333-C1F7-4861-81E1-67660933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57675"/>
            <a:ext cx="9334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23B59"/>
          </a:solidFill>
          <a:ln xmlns:a="http://schemas.openxmlformats.org/drawingml/2006/main" w="14288">
            <a:solidFill>
              <a:srgbClr val="365777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Resultado: la misma matriz T_0_6 con solo seis joints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2D408-CB4C-4E77-88FD-BBFAA17B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387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DCE5E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DCE5EF"/>
                </a:solidFill>
                <a:latin typeface="Liberation Sans"/>
                <a:ea typeface="Liberation Sans"/>
                <a:cs typeface="Liberation Sans"/>
              </a:rPr>
              <a:t>Los offsets -pi/2 y +pi se combinan en los RPY de los origin. La igualdad se verifica numericamente.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C6C7E-2475-4D66-B1C5-B8E6998C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432017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84D55-ED13-4C0B-9043-F9F15ABE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257BD-C09A-463D-8BAF-8EB91584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92958-3334-4A86-BD8F-907A843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DH A URDF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E5350-48C8-4F73-A55B-E14724D9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Coordenadas joint/origin usadas por ROS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943D0-E969-43DB-BDBA-44E29D10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97486-5756-4377-896F-4B3BA66B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A47DD-062D-45EE-997E-1397A509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6680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2952750"/>
                <a:gridCol w="4000500"/>
                <a:gridCol w="1809750"/>
              </a:tblGrid>
              <a:tr h="483054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Junta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origin xyz [m]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origin rpy [rad]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axis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</a:tr>
              <a:tr h="483054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joint_1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0  0  0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0  0  0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0 0 1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joint_2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0  0  0.290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-pi/2  -pi/2  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0 0 1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</a:tr>
              <a:tr h="483054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joint_3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0.270  0  0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0  0  0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0 0 1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joint_4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0.070  0  0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-pi/2  0  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0 0 1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</a:tr>
              <a:tr h="483054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joint_5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0  0  0.302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+pi/2  0  0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0 0 1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  <a:tr h="483054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joint_6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0  0.072  0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+pi/2  0  pi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0 0 1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97ED8-3C17-4063-96BA-94878343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rPr>
              <a:t>Por que axis = 0 0 1 en todas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E5198-0CD9-4EF4-ADB3-1C1A06EA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DH define cada giro alrededor del eje z local; los RPY orientan ese z local en el espacio.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C22CE-25D0-4ECF-A793-3957DE5E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257800"/>
            <a:ext cx="2428875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9525">
            <a:solidFill>
              <a:srgbClr val="F28C28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joint_6: Tz(0.072) y Rz(q6) conmutan</a:t>
            </a:r>
          </a:p>
        </p:txBody>
      </p:sp>
    </p:spTree>
    <p:extLst>
      <p:ext uri="{BB962C8B-B14F-4D97-AF65-F5344CB8AC3E}">
        <p14:creationId xmlns:p14="http://schemas.microsoft.com/office/powerpoint/2010/main" val="18799012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AF762E-FE6F-446D-B469-84009EF4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3CD9E-B329-4BC3-8E0A-867A2B27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062AF-E1F0-48DA-B6EC-FC152410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TF / URDF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1ACF2-40A9-4950-AD23-7C9100CF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Arbol jerarquico: seis marcos moviles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176E1-AAB0-4D34-B4A9-FB0569FA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57825-4C06-4491-9AF8-A5A2749C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73E7B-1591-44FB-9B7C-EE343E54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EC86F-7A6C-476F-AE0E-DCFDC3BD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9050">
            <a:solidFill>
              <a:srgbClr val="1322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77525-3730-4675-9166-19F2FFD6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95575"/>
            <a:ext cx="1038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base_link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4A93E-294E-4C2E-B29B-39F1E966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43200"/>
            <a:ext cx="3714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33521-0185-4C12-8171-BB7B7429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146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joint_1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305A4-9608-4B1B-92B9-7626F9DA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333625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EF4"/>
          </a:solidFill>
          <a:ln xmlns:a="http://schemas.openxmlformats.org/drawingml/2006/main" w="19050">
            <a:solidFill>
              <a:srgbClr val="1322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F761B-553E-4E62-AE6F-F8519B5B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695575"/>
            <a:ext cx="1038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link_1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9A433-E735-412A-AE0E-335AB6F8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43200"/>
            <a:ext cx="3714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AE4F3-4AC7-46CA-B7A9-1F18C191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1146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joint_2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73EA7-A503-4575-AEA9-5B122A10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33625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EF4"/>
          </a:solidFill>
          <a:ln xmlns:a="http://schemas.openxmlformats.org/drawingml/2006/main" w="19050">
            <a:solidFill>
              <a:srgbClr val="1322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37153-9F89-47B4-A47F-BFBFE00E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95575"/>
            <a:ext cx="1038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link_2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1A863-CEFE-43A4-81E0-43AFA65C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43200"/>
            <a:ext cx="3714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32E39-43D7-482E-BFBB-D763EB4F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146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joint_3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70408D-F324-4D41-8D31-68C48366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333625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EF4"/>
          </a:solidFill>
          <a:ln xmlns:a="http://schemas.openxmlformats.org/drawingml/2006/main" w="19050">
            <a:solidFill>
              <a:srgbClr val="1322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5D0A0-0DE1-461A-8579-62F384D0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95575"/>
            <a:ext cx="1038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link_3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53AD1A-3A89-42CE-A8A5-992307F5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43200"/>
            <a:ext cx="3714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40B499-F72B-447D-A91E-88A7DD85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146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joint_4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538292-218B-4B3F-AD8D-9E0AA8D8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33625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EF4"/>
          </a:solidFill>
          <a:ln xmlns:a="http://schemas.openxmlformats.org/drawingml/2006/main" w="19050">
            <a:solidFill>
              <a:srgbClr val="1322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43C3D9-B7E6-4BC8-B908-61D28473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95575"/>
            <a:ext cx="1038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link_4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00528D-FA7D-45E5-BBFC-D7E16B93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43200"/>
            <a:ext cx="3714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285492-F311-4782-93BE-7147C7D9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146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joint_5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3598BF-6D87-46D6-874B-51CF1783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333625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EF4"/>
          </a:solidFill>
          <a:ln xmlns:a="http://schemas.openxmlformats.org/drawingml/2006/main" w="19050">
            <a:solidFill>
              <a:srgbClr val="13223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3C7C76-49EC-4E0D-88CA-9FFAEACF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695575"/>
            <a:ext cx="1038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link_5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5AC87E-C9F2-4AC4-B2E9-2FD51DF6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743200"/>
            <a:ext cx="3714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528781-06A5-4718-8A54-C0B700CF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1146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joint_6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42027D-7326-420B-823F-877A4BE1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333625"/>
            <a:ext cx="1190625" cy="119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DF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F2AD10-50D9-4065-ACF2-940E447E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695575"/>
            <a:ext cx="1038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tool0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4F5E25-748E-4C12-89FF-3C83626C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86250"/>
            <a:ext cx="2333625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7 links totales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C217E2-08A9-4014-974A-72AAE4C8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86250"/>
            <a:ext cx="2333625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AF6F7"/>
          </a:solidFill>
          <a:ln xmlns:a="http://schemas.openxmlformats.org/drawingml/2006/main" w="9525">
            <a:solidFill>
              <a:srgbClr val="B9DDE2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rPr>
              <a:t>6 joints revolute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ACA66C-6E9E-4603-B112-C5B89668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2333625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B8DCC6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2E8B5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2E8B57"/>
                </a:solidFill>
                <a:latin typeface="Liberation Sans"/>
                <a:ea typeface="Liberation Sans"/>
                <a:cs typeface="Liberation Sans"/>
              </a:rPr>
              <a:t>0 joints fixed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1EF035-2749-412F-B88D-0E53764C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base_link no es una septima articulacion: es la raiz fija que ROS necesita.</a:t>
            </a:r>
          </a:p>
        </p:txBody>
      </p:sp>
    </p:spTree>
    <p:extLst>
      <p:ext uri="{BB962C8B-B14F-4D97-AF65-F5344CB8AC3E}">
        <p14:creationId xmlns:p14="http://schemas.microsoft.com/office/powerpoint/2010/main" val="6087004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8DCD59-E509-4872-BCF3-CBD6E195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50951-7367-417C-A817-9F13243A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75E25-1E6F-4274-A9E9-1AB02F1D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URDF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A2E3D-6E92-4230-8318-A26BC539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Tres conceptos que no deben confundirse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F7A1A-FB62-469A-9F9E-BD6261A7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98910-E127-4F22-A01D-33F7BFE1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2A85E-9854-408E-BA2D-5F27EABE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8535E-11FD-48CA-A5E3-20738E60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342900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611FC-7913-412F-9341-06002A84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D4D91-3162-4DDF-ADAA-DBFE8DFC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09750"/>
            <a:ext cx="308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joint/origin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345C2-9222-4C57-96F5-85BC94A2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09800"/>
            <a:ext cx="30861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Define la transformacion cinematica padre-hijo. Sus xyz y rpy si afectan la posicion y orientacion de los marcos TF.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486CE-2483-4E54-9E75-90306038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66875"/>
            <a:ext cx="342900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7ACE3-8B12-47F5-BBC4-4A56829B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66875"/>
            <a:ext cx="7620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B7C64-3F5A-4F84-9BE3-B0A2F869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308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visual/origin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546F9-0D9E-4DA5-872D-3D4A132A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0861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Mueve solamente el cilindro, la caja o la esfera para centrar el dibujo. No crea marcos TF ni cambia la cinematica.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B94336-04A2-40E9-AEA4-BC44A6E0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340995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3D588-4D93-49BD-87C1-F2260E0F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7620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3A3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5D3D59-E585-495C-8C7A-F53EFC0C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80975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inertial/origin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85C6D9-4C60-46DC-B16E-F1363215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209800"/>
            <a:ext cx="30670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Ubicaria el centro de masa para dinamica. Fue eliminado porque no existe una simulacion fisica ni datos CAD validados.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4F3DE-8B12-4A25-AFE1-8DAF1062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81625"/>
            <a:ext cx="8191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1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En la version final: 0 &lt;inertial&gt; y 0 &lt;collision&gt;</a:t>
            </a:r>
          </a:p>
        </p:txBody>
      </p:sp>
    </p:spTree>
    <p:extLst>
      <p:ext uri="{BB962C8B-B14F-4D97-AF65-F5344CB8AC3E}">
        <p14:creationId xmlns:p14="http://schemas.microsoft.com/office/powerpoint/2010/main" val="7825881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6D7A11-7039-4C0C-A00E-255E0970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6D67D-51D9-42B9-BEA7-215B8C48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4C57A-DD28-4BA6-983D-759C100C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VALIDACION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6A8F9-72EF-40ED-B9CB-1076C545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Como calculamos el error DH frente a URDF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89F0F-DD57-4B80-A6EC-45C85E5F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4AE18-3171-4278-8491-0109D789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621CE-1A34-4CA8-BACA-38C7B350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150ED-A867-4860-B532-A018C744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4810125" cy="1476375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D75E0-3419-4050-82E3-587149A1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76200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24C4F-EA18-4431-8EC7-FDD20E26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66875"/>
            <a:ext cx="4467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Camino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F835B-D1C8-4073-892C-0FF79337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66925"/>
            <a:ext cx="44672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T_DH(q): producto de las seis matrices Denavit-Hartenberg.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051FD-BBC6-4465-9C8D-CE036199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4791075" cy="1476375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EA999-CBEC-496F-A87C-1DC74B28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76200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98005-16FA-42B0-A5A2-0B76A0E7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66875"/>
            <a:ext cx="4448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Camino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5F6DA-242E-4128-8991-C50A74D4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66925"/>
            <a:ext cx="44481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T_URDF(q): origins del XML seguidos por Rz(q_i).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B755A-D3E8-40EC-8EE6-DB1E8737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981200"/>
            <a:ext cx="112395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0D4FA-F2D7-44FF-8E0D-F658F957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717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comparar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608B7-85C3-45B2-ABF9-73F49603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rPr>
              <a:t>Error de posicion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6F2AA-4E21-4A05-9092-0AF850DC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48577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32238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1">
                <a:solidFill>
                  <a:srgbClr val="132238"/>
                </a:solidFill>
                <a:latin typeface="Liberation Mono"/>
                <a:ea typeface="Liberation Mono"/>
                <a:cs typeface="Liberation Mono"/>
              </a:rPr>
              <a:t>e_p = || p_DH - p_URDF ||_2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E16A7-DF36-4778-A173-7E2FBFBD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766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Error de orientacion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604B9B-FC04-4EED-9F87-C5B0A4D0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05250"/>
            <a:ext cx="48577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980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32238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725" b="1">
                <a:solidFill>
                  <a:srgbClr val="132238"/>
                </a:solidFill>
                <a:latin typeface="Liberation Mono"/>
                <a:ea typeface="Liberation Mono"/>
                <a:cs typeface="Liberation Mono"/>
              </a:rPr>
              <a:t>R_rel = R_DH^T R_URDF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32238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725" b="1">
                <a:solidFill>
                  <a:srgbClr val="132238"/>
                </a:solidFill>
                <a:latin typeface="Liberation Mono"/>
                <a:ea typeface="Liberation Mono"/>
                <a:cs typeface="Liberation Mono"/>
              </a:rPr>
              <a:t>e_R = angulo(R_rel)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C9991-6740-41D4-B6D0-CA2376AA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911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Tolerancia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506C0-B9F4-4CF0-BE99-6D3D421D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245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1e-6 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199F82-7809-433F-A481-5D2C8238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911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Maximo medido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0D8A35-0AA9-4EBF-9383-279266C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2E8B5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2E8B57"/>
                </a:solidFill>
                <a:latin typeface="Liberation Sans"/>
                <a:ea typeface="Liberation Sans"/>
                <a:cs typeface="Liberation Sans"/>
              </a:rPr>
              <a:t>1.12e-16 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1B50AD-0DD5-49BE-8DD4-23B6B652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911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Conclusion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892C15-88B4-4CBA-83EF-FB51F5AD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5245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2E8B5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2E8B57"/>
                </a:solidFill>
                <a:latin typeface="Liberation Sans"/>
                <a:ea typeface="Liberation Sans"/>
                <a:cs typeface="Liberation Sans"/>
              </a:rPr>
              <a:t>APROBADO</a:t>
            </a:r>
          </a:p>
        </p:txBody>
      </p:sp>
    </p:spTree>
    <p:extLst>
      <p:ext uri="{BB962C8B-B14F-4D97-AF65-F5344CB8AC3E}">
        <p14:creationId xmlns:p14="http://schemas.microsoft.com/office/powerpoint/2010/main" val="11067810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3F1902-E4C1-4221-8A49-A6D4D59B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E88F8-66ED-4379-AF3E-C958796F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77918-F854-41D6-A6C9-CDAE0E87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DOS PRUEBAS JUSTIFICADAS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BDA4D-2946-4100-8E04-7F6B9E9A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Prueba A: postura de trabajo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7FC3B-7362-4177-9A99-0A59DCE6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7D6D6-C4EC-46A6-B80C-BE142387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85138-FF0D-41E1-B477-A8E3CEA9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8652D-FC1F-48A6-9C00-5128F663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AF6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32238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950" b="1">
                <a:solidFill>
                  <a:srgbClr val="132238"/>
                </a:solidFill>
                <a:latin typeface="Liberation Mono"/>
                <a:ea typeface="Liberation Mono"/>
                <a:cs typeface="Liberation Mono"/>
              </a:rPr>
              <a:t>q = [30, -20, 15, 40, -35, 60] grados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D0800-2C5E-4C4D-B18A-8C493F94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514350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B4089-76D2-4139-B6DD-3925F421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76200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D8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AF269-355C-431B-B4B0-B117756D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7650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Por que se eligio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6705D-CC35-4DDA-9900-89B052FA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76550"/>
            <a:ext cx="48006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• Las seis juntas son distintas de cero.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• Evita la simetria de la postura cero.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• Ejercita signos y offsets.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• Representa aproximacion elevada de trabajo.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70342-13D7-4A42-9B6D-ADCE21D9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33625"/>
            <a:ext cx="569595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0AAB3-759B-4CBF-A862-010B035D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33625"/>
            <a:ext cx="76200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8BA0E-8B98-42D6-8A16-05BAE211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76500"/>
            <a:ext cx="535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Resultado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7A554-3338-4BC6-BA32-CF081258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876550"/>
            <a:ext cx="5353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p = [0.237055, 0.106212, 0.676427]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Distancia radial = 0.259762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e_p = 1.118863e-16 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e_R = 4.209341e-16 rad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10F70-A01D-43D6-993F-A856044E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34000"/>
            <a:ext cx="96202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Esta pose comprueba una configuracion general, no una coincidencia accidental en q = 0.</a:t>
            </a:r>
          </a:p>
        </p:txBody>
      </p:sp>
    </p:spTree>
    <p:extLst>
      <p:ext uri="{BB962C8B-B14F-4D97-AF65-F5344CB8AC3E}">
        <p14:creationId xmlns:p14="http://schemas.microsoft.com/office/powerpoint/2010/main" val="13062858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C2038E-2E58-493E-A8F3-1588306A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43B48-C9E5-402E-87B2-FF790424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9C987-9D65-4768-9C93-B889CE84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DOS PRUEBAS JUSTIFICADAS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22586-D532-428D-9D7E-A67206BE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Prueba B: postura plegada critica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B9D35-FC72-481E-8B2C-601B1180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CD0AF-1458-4BD8-8E51-477DDCE0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57ED9-0CF1-4BAF-BC39-5AE95E51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69A7F-EBDB-4C0D-BBF8-B19A42BE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32238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950" b="1">
                <a:solidFill>
                  <a:srgbClr val="132238"/>
                </a:solidFill>
                <a:latin typeface="Liberation Mono"/>
                <a:ea typeface="Liberation Mono"/>
                <a:cs typeface="Liberation Mono"/>
              </a:rPr>
              <a:t>q = [90, -60, 60, 90, 60, 180] grados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1147C-B0F9-4A11-A5CC-B91CDB52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514350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7845F-5DDD-4BD4-9C0D-AE17FEE1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76200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88F64-36AC-4FEF-9F09-BAD81DB0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7650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Por que se eligio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14B7C-9895-4DD6-B662-41364E86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76550"/>
            <a:ext cx="48006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• Pliega la cadena cerca del eje de la base.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• Es sensible a signos y offsets.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• Explora una region de riesgo geometrico.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• Todas las juntas participan.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DDEB1-9CAF-4EF9-B410-01CD4EA2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33625"/>
            <a:ext cx="569595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8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24251-1D63-44A3-A831-A3BB21DC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33625"/>
            <a:ext cx="76200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85582-8AAF-49E2-A51C-3288B5B9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76500"/>
            <a:ext cx="535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Resultado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C6A1D-5AD1-40CA-8737-12FAEA1A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876550"/>
            <a:ext cx="5353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p = [-0.062354, 0.104173, 0.495000]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Distancia radial = 0.121409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e_p = 1.022163e-16 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202733"/>
                </a:solidFill>
                <a:latin typeface="Liberation Sans"/>
                <a:ea typeface="Liberation Sans"/>
                <a:cs typeface="Liberation Sans"/>
              </a:rPr>
              <a:t>e_R = 1.605583e-16 rad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34E4C-E0CA-46B0-9F92-D72FBD59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38750"/>
            <a:ext cx="10191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E5B7B7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B43A3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B43A3A"/>
                </a:solidFill>
                <a:latin typeface="Liberation Sans"/>
                <a:ea typeface="Liberation Sans"/>
                <a:cs typeface="Liberation Sans"/>
              </a:rPr>
              <a:t>No afirmamos colision certificada: sin geometria collision validada, esta es una prueba cinematica en una region critica.</a:t>
            </a:r>
          </a:p>
        </p:txBody>
      </p:sp>
    </p:spTree>
    <p:extLst>
      <p:ext uri="{BB962C8B-B14F-4D97-AF65-F5344CB8AC3E}">
        <p14:creationId xmlns:p14="http://schemas.microsoft.com/office/powerpoint/2010/main" val="2449574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0B18D-C433-43B3-8715-593DA1D3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52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20E1C-3A76-4E3A-93BA-19F58B41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0"/>
            <a:ext cx="10239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E7C80-1E27-4A1E-8DC6-CEDF9CE6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RESULTADOS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D795A-D740-470E-B40D-DCE5A445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Evidencia verificable del Hito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37CE2-4933-47D0-979F-3232BDAE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715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EB7FB-BCF7-4FF0-A3C8-F4EFB8D3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0">
                <a:solidFill>
                  <a:srgbClr val="5B6675"/>
                </a:solidFill>
                <a:latin typeface="Liberation Sans"/>
                <a:ea typeface="Liberation Sans"/>
                <a:cs typeface="Liberation Sans"/>
              </a:rPr>
              <a:t>IMT-342 | Hito 1 | ABB IRB 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EE0FE-1D19-4233-B979-76D9C391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13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714375" y="1476375"/>
          <a:ext xmlns:a="http://schemas.openxmlformats.org/drawingml/2006/main" cx="61912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2809875"/>
              </a:tblGrid>
              <a:tr h="500063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Comprobacion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Resultado</a:t>
                      </a:r>
                    </a:p>
                  </a:txBody>
                  <a:tcPr marL="47625" marR="47625" marT="47625" marB="47625" anchor="ctr">
                    <a:solidFill>
                      <a:srgbClr val="132238"/>
                    </a:solidFill>
                  </a:tcPr>
                </a:tc>
              </a:tr>
              <a:tr h="500063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Juntas revolutas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Juntas fijas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</a:tr>
              <a:tr h="500063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Links totales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7 (incluye base_link)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inertial / collision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 / 0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</a:tr>
              <a:tr h="500063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Pruebas automatizadas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 aprobadas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Error maximo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1.118863e-16 m</a:t>
                      </a:r>
                    </a:p>
                  </a:txBody>
                  <a:tcPr marL="47625" marR="47625" marT="38100" marB="38100" anchor="ctr">
                    <a:solidFill>
                      <a:srgbClr val="EEF1F4"/>
                    </a:solidFill>
                  </a:tcPr>
                </a:tc>
              </a:tr>
              <a:tr h="500063"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Tolerancia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02733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1.0e-6 m</a:t>
                      </a:r>
                    </a:p>
                  </a:txBody>
                  <a:tcPr marL="47625" marR="476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4E0AB-097D-481E-ABA8-EE0C9BCA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66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67D8D"/>
                </a:solidFill>
                <a:latin typeface="Liberation Sans"/>
                <a:ea typeface="Liberation Sans"/>
                <a:cs typeface="Liberation Sans"/>
              </a:rPr>
              <a:t>Comandos para mostrar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EF8A7-8A05-4D28-B1C6-985E0B3C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4000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63B55"/>
            </a:solidFill>
            <a:prstDash val="solid"/>
          </a:ln>
        </p:spPr>
        <p:txBody>
          <a:bodyPr xmlns:a="http://schemas.openxmlformats.org/drawingml/2006/main" wrap="square" lIns="190500" tIns="20955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ros2 run irb120_hito1 verify_model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colcon test --packages-select irb120_hito1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colcon test-result --verbose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350" b="0">
                <a:solidFill>
                  <a:srgbClr val="FFFFFF"/>
                </a:solidFill>
                <a:latin typeface="Liberation Mono"/>
                <a:ea typeface="Liberation Mono"/>
                <a:cs typeface="Liberation Mono"/>
              </a:rPr>
              <a:t>check_urdf /tmp/irb120.urdf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AFDE7-A418-47D9-AEC8-B19E5D56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95875"/>
            <a:ext cx="40957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E8B5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E8B57"/>
                </a:solidFill>
                <a:latin typeface="Liberation Sans"/>
                <a:ea typeface="Liberation Sans"/>
                <a:cs typeface="Liberation Sans"/>
              </a:rPr>
              <a:t>Esperado: APROBADO | 12 tests | arbol serial de 6 joints</a:t>
            </a:r>
          </a:p>
        </p:txBody>
      </p:sp>
    </p:spTree>
    <p:extLst>
      <p:ext uri="{BB962C8B-B14F-4D97-AF65-F5344CB8AC3E}">
        <p14:creationId xmlns:p14="http://schemas.microsoft.com/office/powerpoint/2010/main" val="6142524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1BAC2D-5EEA-485F-8ED8-D8FA5B72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AD34D-8F47-4776-92C4-1B6BE571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F28C28"/>
                </a:solidFill>
                <a:latin typeface="Liberation Sans"/>
                <a:ea typeface="Liberation Sans"/>
                <a:cs typeface="Liberation Sans"/>
              </a:rPr>
              <a:t>DEMOSTRACION EN VIVO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388F6-D7C7-444D-8B3D-9875D9EA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Seis pasos para cerrar la defensa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A828F-3317-4400-BFA1-49D1194E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6648A-B2C2-4A56-BF1F-91AA47D2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556C2-C512-4656-9832-7EFDFBB1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811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Cargar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3CDA8-2606-46E0-BE7C-9872F9AB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193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rPr>
              <a:t>source ROS y workspace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34C41-F45E-422E-B0B3-21E5CB1F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764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369FF-BBBC-4187-851C-75D12460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5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F66F2-B88D-4444-9882-2DCA4304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811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Validar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2BB9E-CDC2-4DAF-A097-05290ECF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193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rPr>
              <a:t>verify_model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6C4EB-D0AC-47F1-AD90-D53781B4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764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7EC86A-E4FC-414B-B617-D78C8C40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23AE6-A48A-49CD-A05B-7C635800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811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Probar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7E1E5-59D9-42CF-AAEB-E803B552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193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rPr>
              <a:t>12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7D5C2A-75BC-47A1-8950-0F169991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AAE59F-8F4B-453B-9D0B-3BD0F6DC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EBFEED-7BF2-4785-B157-596D7DA1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956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Abrir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7CCFB-6125-43B8-949A-EC1A640E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338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rPr>
              <a:t>RViz + sliders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6D721E-44E3-41EA-A1A0-9666BFD9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909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FA0263-BE7E-44E7-96D7-DD0F6ECE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67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FEF8F5-28CB-4A25-85FE-B71B5BEC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956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Mover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6473D6-6B92-48AB-915C-7A61598D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338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rPr>
              <a:t>joint_1 a joint_6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195F74-0A00-4CFB-9A1A-7F93D075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909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9050">
            <a:solidFill>
              <a:srgbClr val="F28C2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D8783E-32DF-454A-B3AC-A3545220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67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2A45B-2081-4A68-BA2B-ECB7B128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956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Explicar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5F6253-5483-412C-A9E0-61B2BC70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338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rPr>
              <a:t>DH, error y poses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27F8E4-506D-4898-A6E3-4A42A289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334000"/>
            <a:ext cx="71437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32238"/>
                </a:solidFill>
                <a:latin typeface="Liberation Sans"/>
                <a:ea typeface="Liberation Sans"/>
                <a:cs typeface="Liberation Sans"/>
              </a:rPr>
              <a:t>Hito 1 completado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8BE9D3-234B-4CF6-A8AD-F0246E52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0960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C9D6E5"/>
                </a:solidFill>
                <a:latin typeface="Liberation Sans"/>
                <a:ea typeface="Liberation Sans"/>
                <a:cs typeface="Liberation Sans"/>
              </a:rPr>
              <a:t>Pendiente futuro: CAD por eslabon, colisiones, dinamica y control</a:t>
            </a:r>
          </a:p>
        </p:txBody>
      </p:sp>
    </p:spTree>
    <p:extLst>
      <p:ext uri="{BB962C8B-B14F-4D97-AF65-F5344CB8AC3E}">
        <p14:creationId xmlns:p14="http://schemas.microsoft.com/office/powerpoint/2010/main" val="1643190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2026-09-11T23:32:15.1340000Z</dcterms:created>
  <dcterms:modified xsi:type="dcterms:W3CDTF">2026-09-11T23:32:15.1340000Z</dcterms:modified>
</coreProperties>
</file>